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Play" charset="1" panose="00000500000000000000"/>
      <p:regular r:id="rId29"/>
    </p:embeddedFont>
    <p:embeddedFont>
      <p:font typeface="Arial" charset="1" panose="020B0604020202020204"/>
      <p:regular r:id="rId30"/>
    </p:embeddedFont>
    <p:embeddedFont>
      <p:font typeface="Arimo Bold" charset="1" panose="020B0704020202020204"/>
      <p:regular r:id="rId31"/>
    </p:embeddedFont>
    <p:embeddedFont>
      <p:font typeface="Arimo" charset="1" panose="020B0604020202020204"/>
      <p:regular r:id="rId32"/>
    </p:embeddedFont>
    <p:embeddedFont>
      <p:font typeface="Arial Bold" charset="1" panose="020B0704020202020204"/>
      <p:regular r:id="rId34"/>
    </p:embeddedFont>
    <p:embeddedFont>
      <p:font typeface="Arial Italics" charset="1" panose="020B0604020202090204"/>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notesMasters/notesMaster1.xml" Type="http://schemas.openxmlformats.org/officeDocument/2006/relationships/notesMaster"/><Relationship Id="rId27" Target="theme/theme2.xml" Type="http://schemas.openxmlformats.org/officeDocument/2006/relationships/theme"/><Relationship Id="rId28" Target="notesSlides/notesSlide1.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fonts/font34.fntdata" Type="http://schemas.openxmlformats.org/officeDocument/2006/relationships/font"/><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fonts/font49.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4.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8.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217423" y="2364875"/>
            <a:ext cx="13716000" cy="3205277"/>
            <a:chOff x="0" y="0"/>
            <a:chExt cx="18288000" cy="4273702"/>
          </a:xfrm>
        </p:grpSpPr>
        <p:sp>
          <p:nvSpPr>
            <p:cNvPr name="Freeform 3" id="3"/>
            <p:cNvSpPr/>
            <p:nvPr/>
          </p:nvSpPr>
          <p:spPr>
            <a:xfrm flipH="false" flipV="false" rot="0">
              <a:off x="0" y="0"/>
              <a:ext cx="18288000" cy="4273702"/>
            </a:xfrm>
            <a:custGeom>
              <a:avLst/>
              <a:gdLst/>
              <a:ahLst/>
              <a:cxnLst/>
              <a:rect r="r" b="b" t="t" l="l"/>
              <a:pathLst>
                <a:path h="4273702" w="18288000">
                  <a:moveTo>
                    <a:pt x="0" y="0"/>
                  </a:moveTo>
                  <a:lnTo>
                    <a:pt x="18288000" y="0"/>
                  </a:lnTo>
                  <a:lnTo>
                    <a:pt x="18288000" y="4273702"/>
                  </a:lnTo>
                  <a:lnTo>
                    <a:pt x="0" y="4273702"/>
                  </a:lnTo>
                  <a:close/>
                </a:path>
              </a:pathLst>
            </a:custGeom>
            <a:solidFill>
              <a:srgbClr val="000000">
                <a:alpha val="0"/>
              </a:srgbClr>
            </a:solidFill>
          </p:spPr>
        </p:sp>
        <p:sp>
          <p:nvSpPr>
            <p:cNvPr name="TextBox 4" id="4"/>
            <p:cNvSpPr txBox="true"/>
            <p:nvPr/>
          </p:nvSpPr>
          <p:spPr>
            <a:xfrm>
              <a:off x="0" y="47625"/>
              <a:ext cx="18288000" cy="4226077"/>
            </a:xfrm>
            <a:prstGeom prst="rect">
              <a:avLst/>
            </a:prstGeom>
          </p:spPr>
          <p:txBody>
            <a:bodyPr anchor="b" rtlCol="false" tIns="0" lIns="0" bIns="0" rIns="0"/>
            <a:lstStyle/>
            <a:p>
              <a:pPr algn="ctr">
                <a:lnSpc>
                  <a:spcPts val="5832"/>
                </a:lnSpc>
              </a:pPr>
              <a:r>
                <a:rPr lang="en-US" sz="5400">
                  <a:solidFill>
                    <a:srgbClr val="FF0000"/>
                  </a:solidFill>
                  <a:latin typeface="Play"/>
                  <a:ea typeface="Play"/>
                  <a:cs typeface="Play"/>
                  <a:sym typeface="Play"/>
                </a:rPr>
                <a:t>Dis</a:t>
              </a:r>
              <a:r>
                <a:rPr lang="en-US" sz="5400">
                  <a:solidFill>
                    <a:srgbClr val="FF0000"/>
                  </a:solidFill>
                  <a:latin typeface="Play"/>
                  <a:ea typeface="Play"/>
                  <a:cs typeface="Play"/>
                  <a:sym typeface="Play"/>
                </a:rPr>
                <a:t>aster Tweet Information Network: Understanding Hashtag Co-occurrence Patterns for Emergency Response Coordination</a:t>
              </a:r>
            </a:p>
          </p:txBody>
        </p:sp>
      </p:grpSp>
      <p:sp>
        <p:nvSpPr>
          <p:cNvPr name="TextBox 5" id="5"/>
          <p:cNvSpPr txBox="true"/>
          <p:nvPr/>
        </p:nvSpPr>
        <p:spPr>
          <a:xfrm rot="0">
            <a:off x="2629106" y="5478872"/>
            <a:ext cx="13578850" cy="1461288"/>
          </a:xfrm>
          <a:prstGeom prst="rect">
            <a:avLst/>
          </a:prstGeom>
        </p:spPr>
        <p:txBody>
          <a:bodyPr anchor="t" rtlCol="false" tIns="0" lIns="0" bIns="0" rIns="0">
            <a:spAutoFit/>
          </a:bodyPr>
          <a:lstStyle/>
          <a:p>
            <a:pPr algn="ctr">
              <a:lnSpc>
                <a:spcPts val="3888"/>
              </a:lnSpc>
            </a:pPr>
            <a:r>
              <a:rPr lang="en-US" sz="3600">
                <a:solidFill>
                  <a:srgbClr val="000000"/>
                </a:solidFill>
                <a:latin typeface="Arial"/>
                <a:ea typeface="Arial"/>
                <a:cs typeface="Arial"/>
                <a:sym typeface="Arial"/>
              </a:rPr>
              <a:t>Submitted as a part of Formative Assessment for the course</a:t>
            </a:r>
          </a:p>
          <a:p>
            <a:pPr algn="ctr">
              <a:lnSpc>
                <a:spcPts val="3888"/>
              </a:lnSpc>
            </a:pPr>
            <a:r>
              <a:rPr lang="en-US" sz="3600">
                <a:solidFill>
                  <a:srgbClr val="000000"/>
                </a:solidFill>
                <a:latin typeface="Arial"/>
                <a:ea typeface="Arial"/>
                <a:cs typeface="Arial"/>
                <a:sym typeface="Arial"/>
              </a:rPr>
              <a:t>Social Networks and  Analytics.</a:t>
            </a:r>
          </a:p>
          <a:p>
            <a:pPr algn="ctr">
              <a:lnSpc>
                <a:spcPts val="3888"/>
              </a:lnSpc>
            </a:pPr>
          </a:p>
        </p:txBody>
      </p:sp>
      <p:graphicFrame>
        <p:nvGraphicFramePr>
          <p:cNvPr name="Table 6" id="6"/>
          <p:cNvGraphicFramePr>
            <a:graphicFrameLocks noGrp="true"/>
          </p:cNvGraphicFramePr>
          <p:nvPr/>
        </p:nvGraphicFramePr>
        <p:xfrm>
          <a:off x="4833623" y="6601275"/>
          <a:ext cx="8483600" cy="3481388"/>
        </p:xfrm>
        <a:graphic>
          <a:graphicData uri="http://schemas.openxmlformats.org/drawingml/2006/table">
            <a:tbl>
              <a:tblPr/>
              <a:tblGrid>
                <a:gridCol w="535942"/>
                <a:gridCol w="2722325"/>
                <a:gridCol w="5225333"/>
              </a:tblGrid>
              <a:tr h="696278">
                <a:tc gridSpan="3">
                  <a:txBody>
                    <a:bodyPr anchor="t" rtlCol="false"/>
                    <a:lstStyle/>
                    <a:p>
                      <a:pPr algn="l">
                        <a:lnSpc>
                          <a:spcPts val="3240"/>
                        </a:lnSpc>
                        <a:defRPr/>
                      </a:pPr>
                      <a:r>
                        <a:rPr lang="en-US" sz="2700" b="true">
                          <a:solidFill>
                            <a:srgbClr val="000000"/>
                          </a:solidFill>
                          <a:latin typeface="Arimo Bold"/>
                          <a:ea typeface="Arimo Bold"/>
                          <a:cs typeface="Arimo Bold"/>
                          <a:sym typeface="Arimo Bold"/>
                        </a:rPr>
                        <a:t> </a:t>
                      </a:r>
                      <a:r>
                        <a:rPr lang="en-US" sz="2700" b="true">
                          <a:solidFill>
                            <a:srgbClr val="000000"/>
                          </a:solidFill>
                          <a:latin typeface="Arimo Bold"/>
                          <a:ea typeface="Arimo Bold"/>
                          <a:cs typeface="Arimo Bold"/>
                          <a:sym typeface="Arimo Bold"/>
                        </a:rPr>
                        <a:t>Presented by </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240"/>
                        </a:lnSpc>
                        <a:defRPr/>
                      </a:pPr>
                      <a:r>
                        <a:rPr lang="en-US" sz="2700" b="true">
                          <a:solidFill>
                            <a:srgbClr val="000000"/>
                          </a:solidFill>
                          <a:latin typeface="Arimo Bold"/>
                          <a:ea typeface="Arimo Bold"/>
                          <a:cs typeface="Arimo Bold"/>
                          <a:sym typeface="Arimo Bold"/>
                        </a:rPr>
                        <a:t> </a:t>
                      </a:r>
                      <a:r>
                        <a:rPr lang="en-US" sz="2700" b="true">
                          <a:solidFill>
                            <a:srgbClr val="000000"/>
                          </a:solidFill>
                          <a:latin typeface="Arimo Bold"/>
                          <a:ea typeface="Arimo Bold"/>
                          <a:cs typeface="Arimo Bold"/>
                          <a:sym typeface="Arimo Bold"/>
                        </a:rPr>
                        <a:t>Presented by </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hMerge="true">
                  <a:txBody>
                    <a:bodyPr anchor="t" rtlCol="false"/>
                    <a:lstStyle/>
                    <a:p>
                      <a:pPr algn="l">
                        <a:lnSpc>
                          <a:spcPts val="3240"/>
                        </a:lnSpc>
                        <a:defRPr/>
                      </a:pPr>
                      <a:r>
                        <a:rPr lang="en-US" sz="2700" b="true">
                          <a:solidFill>
                            <a:srgbClr val="000000"/>
                          </a:solidFill>
                          <a:latin typeface="Arimo Bold"/>
                          <a:ea typeface="Arimo Bold"/>
                          <a:cs typeface="Arimo Bold"/>
                          <a:sym typeface="Arimo Bold"/>
                        </a:rPr>
                        <a:t> </a:t>
                      </a:r>
                      <a:r>
                        <a:rPr lang="en-US" sz="2700" b="true">
                          <a:solidFill>
                            <a:srgbClr val="000000"/>
                          </a:solidFill>
                          <a:latin typeface="Arimo Bold"/>
                          <a:ea typeface="Arimo Bold"/>
                          <a:cs typeface="Arimo Bold"/>
                          <a:sym typeface="Arimo Bold"/>
                        </a:rPr>
                        <a:t>Presented by </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696278">
                <a:tc>
                  <a:txBody>
                    <a:bodyPr anchor="t" rtlCol="false"/>
                    <a:lstStyle/>
                    <a:p>
                      <a:pPr algn="ctr">
                        <a:lnSpc>
                          <a:spcPts val="3240"/>
                        </a:lnSpc>
                        <a:defRPr/>
                      </a:pPr>
                      <a:r>
                        <a:rPr lang="en-US" sz="2700" spc="-75">
                          <a:solidFill>
                            <a:srgbClr val="000000"/>
                          </a:solidFill>
                          <a:latin typeface="Arimo"/>
                          <a:ea typeface="Arimo"/>
                          <a:cs typeface="Arimo"/>
                          <a:sym typeface="Arimo"/>
                        </a:rPr>
                        <a:t>1</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3240"/>
                        </a:lnSpc>
                        <a:defRPr/>
                      </a:pPr>
                      <a:r>
                        <a:rPr lang="en-US" sz="2700">
                          <a:solidFill>
                            <a:srgbClr val="000000"/>
                          </a:solidFill>
                          <a:latin typeface="Arimo"/>
                          <a:ea typeface="Arimo"/>
                          <a:cs typeface="Arimo"/>
                          <a:sym typeface="Arimo"/>
                        </a:rPr>
                        <a:t> </a:t>
                      </a:r>
                      <a:r>
                        <a:rPr lang="en-US" sz="2700">
                          <a:solidFill>
                            <a:srgbClr val="000000"/>
                          </a:solidFill>
                          <a:latin typeface="Arimo"/>
                          <a:ea typeface="Arimo"/>
                          <a:cs typeface="Arimo"/>
                          <a:sym typeface="Arimo"/>
                        </a:rPr>
                        <a:t>ENG22CS0063</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3240"/>
                        </a:lnSpc>
                        <a:defRPr/>
                      </a:pPr>
                      <a:r>
                        <a:rPr lang="en-US" sz="2700">
                          <a:solidFill>
                            <a:srgbClr val="000000"/>
                          </a:solidFill>
                          <a:latin typeface="Arimo"/>
                          <a:ea typeface="Arimo"/>
                          <a:cs typeface="Arimo"/>
                          <a:sym typeface="Arimo"/>
                        </a:rPr>
                        <a:t>Gowthami S</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96278">
                <a:tc>
                  <a:txBody>
                    <a:bodyPr anchor="t" rtlCol="false"/>
                    <a:lstStyle/>
                    <a:p>
                      <a:pPr algn="ctr">
                        <a:lnSpc>
                          <a:spcPts val="3134"/>
                        </a:lnSpc>
                        <a:defRPr/>
                      </a:pPr>
                      <a:r>
                        <a:rPr lang="en-US" sz="2700" spc="-75">
                          <a:solidFill>
                            <a:srgbClr val="000000"/>
                          </a:solidFill>
                          <a:latin typeface="Arimo"/>
                          <a:ea typeface="Arimo"/>
                          <a:cs typeface="Arimo"/>
                          <a:sym typeface="Arimo"/>
                        </a:rPr>
                        <a:t>2</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3194"/>
                        </a:lnSpc>
                        <a:defRPr/>
                      </a:pPr>
                      <a:r>
                        <a:rPr lang="en-US" sz="2700">
                          <a:solidFill>
                            <a:srgbClr val="000000"/>
                          </a:solidFill>
                          <a:latin typeface="Arimo"/>
                          <a:ea typeface="Arimo"/>
                          <a:cs typeface="Arimo"/>
                          <a:sym typeface="Arimo"/>
                        </a:rPr>
                        <a:t> </a:t>
                      </a:r>
                      <a:r>
                        <a:rPr lang="en-US" sz="2700">
                          <a:solidFill>
                            <a:srgbClr val="000000"/>
                          </a:solidFill>
                          <a:latin typeface="Arimo"/>
                          <a:ea typeface="Arimo"/>
                          <a:cs typeface="Arimo"/>
                          <a:sym typeface="Arimo"/>
                        </a:rPr>
                        <a:t>ENG22CS0140 </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3134"/>
                        </a:lnSpc>
                        <a:defRPr/>
                      </a:pPr>
                      <a:r>
                        <a:rPr lang="en-US" sz="2700">
                          <a:solidFill>
                            <a:srgbClr val="000000"/>
                          </a:solidFill>
                          <a:latin typeface="Arimo"/>
                          <a:ea typeface="Arimo"/>
                          <a:cs typeface="Arimo"/>
                          <a:sym typeface="Arimo"/>
                        </a:rPr>
                        <a:t>S G Sumanth</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96278">
                <a:tc>
                  <a:txBody>
                    <a:bodyPr anchor="t" rtlCol="false"/>
                    <a:lstStyle/>
                    <a:p>
                      <a:pPr algn="ctr">
                        <a:lnSpc>
                          <a:spcPts val="3240"/>
                        </a:lnSpc>
                        <a:defRPr/>
                      </a:pPr>
                      <a:r>
                        <a:rPr lang="en-US" sz="2700" spc="-75">
                          <a:solidFill>
                            <a:srgbClr val="000000"/>
                          </a:solidFill>
                          <a:latin typeface="Arimo"/>
                          <a:ea typeface="Arimo"/>
                          <a:cs typeface="Arimo"/>
                          <a:sym typeface="Arimo"/>
                        </a:rPr>
                        <a:t>3</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just">
                        <a:lnSpc>
                          <a:spcPts val="3194"/>
                        </a:lnSpc>
                        <a:defRPr/>
                      </a:pPr>
                      <a:r>
                        <a:rPr lang="en-US" sz="2700">
                          <a:solidFill>
                            <a:srgbClr val="000000"/>
                          </a:solidFill>
                          <a:latin typeface="Arimo"/>
                          <a:ea typeface="Arimo"/>
                          <a:cs typeface="Arimo"/>
                          <a:sym typeface="Arimo"/>
                        </a:rPr>
                        <a:t> </a:t>
                      </a:r>
                      <a:r>
                        <a:rPr lang="en-US" sz="2700">
                          <a:solidFill>
                            <a:srgbClr val="000000"/>
                          </a:solidFill>
                          <a:latin typeface="Arimo"/>
                          <a:ea typeface="Arimo"/>
                          <a:cs typeface="Arimo"/>
                          <a:sym typeface="Arimo"/>
                        </a:rPr>
                        <a:t>ENG22CS0141</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3240"/>
                        </a:lnSpc>
                        <a:defRPr/>
                      </a:pPr>
                      <a:r>
                        <a:rPr lang="en-US" sz="2700">
                          <a:solidFill>
                            <a:srgbClr val="000000"/>
                          </a:solidFill>
                          <a:latin typeface="Arimo"/>
                          <a:ea typeface="Arimo"/>
                          <a:cs typeface="Arimo"/>
                          <a:sym typeface="Arimo"/>
                        </a:rPr>
                        <a:t>S Nithin</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696278">
                <a:tc>
                  <a:txBody>
                    <a:bodyPr anchor="t" rtlCol="false"/>
                    <a:lstStyle/>
                    <a:p>
                      <a:pPr algn="ctr">
                        <a:lnSpc>
                          <a:spcPts val="3240"/>
                        </a:lnSpc>
                        <a:defRPr/>
                      </a:pPr>
                      <a:r>
                        <a:rPr lang="en-US" sz="2700" spc="-75">
                          <a:solidFill>
                            <a:srgbClr val="000000"/>
                          </a:solidFill>
                          <a:latin typeface="Arimo"/>
                          <a:ea typeface="Arimo"/>
                          <a:cs typeface="Arimo"/>
                          <a:sym typeface="Arimo"/>
                        </a:rPr>
                        <a:t>4</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779"/>
                        </a:lnSpc>
                        <a:defRPr/>
                      </a:pPr>
                      <a:r>
                        <a:rPr lang="en-US" sz="2699">
                          <a:solidFill>
                            <a:srgbClr val="000000"/>
                          </a:solidFill>
                          <a:latin typeface="Arimo"/>
                          <a:ea typeface="Arimo"/>
                          <a:cs typeface="Arimo"/>
                          <a:sym typeface="Arimo"/>
                        </a:rPr>
                        <a:t> </a:t>
                      </a:r>
                      <a:r>
                        <a:rPr lang="en-US" sz="2699">
                          <a:solidFill>
                            <a:srgbClr val="000000"/>
                          </a:solidFill>
                          <a:latin typeface="Arimo"/>
                          <a:ea typeface="Arimo"/>
                          <a:cs typeface="Arimo"/>
                          <a:sym typeface="Arimo"/>
                        </a:rPr>
                        <a:t>ENG22CS0284</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ctr">
                        <a:lnSpc>
                          <a:spcPts val="3240"/>
                        </a:lnSpc>
                        <a:defRPr/>
                      </a:pPr>
                      <a:r>
                        <a:rPr lang="en-US" sz="2700">
                          <a:solidFill>
                            <a:srgbClr val="000000"/>
                          </a:solidFill>
                          <a:latin typeface="Arimo"/>
                          <a:ea typeface="Arimo"/>
                          <a:cs typeface="Arimo"/>
                          <a:sym typeface="Arimo"/>
                        </a:rPr>
                        <a:t>D V S Lakshmi</a:t>
                      </a:r>
                      <a:endParaRPr lang="en-US" sz="1100"/>
                    </a:p>
                  </a:txBody>
                  <a:tcPr marL="68600" marR="68600" marT="68600" marB="6860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grpSp>
        <p:nvGrpSpPr>
          <p:cNvPr name="Group 7" id="7"/>
          <p:cNvGrpSpPr>
            <a:grpSpLocks noChangeAspect="true"/>
          </p:cNvGrpSpPr>
          <p:nvPr/>
        </p:nvGrpSpPr>
        <p:grpSpPr>
          <a:xfrm rot="0">
            <a:off x="6470820" y="68180"/>
            <a:ext cx="5346358" cy="1708438"/>
            <a:chOff x="0" y="0"/>
            <a:chExt cx="7128477" cy="2277917"/>
          </a:xfrm>
        </p:grpSpPr>
        <p:sp>
          <p:nvSpPr>
            <p:cNvPr name="Freeform 8" id="8" descr="A close-up of a logo  AI-generated content may be incorrect."/>
            <p:cNvSpPr/>
            <p:nvPr/>
          </p:nvSpPr>
          <p:spPr>
            <a:xfrm flipH="false" flipV="false" rot="0">
              <a:off x="0" y="0"/>
              <a:ext cx="7128510" cy="2277872"/>
            </a:xfrm>
            <a:custGeom>
              <a:avLst/>
              <a:gdLst/>
              <a:ahLst/>
              <a:cxnLst/>
              <a:rect r="r" b="b" t="t" l="l"/>
              <a:pathLst>
                <a:path h="2277872" w="7128510">
                  <a:moveTo>
                    <a:pt x="0" y="0"/>
                  </a:moveTo>
                  <a:lnTo>
                    <a:pt x="7128510" y="0"/>
                  </a:lnTo>
                  <a:lnTo>
                    <a:pt x="7128510" y="2277872"/>
                  </a:lnTo>
                  <a:lnTo>
                    <a:pt x="0" y="2277872"/>
                  </a:lnTo>
                  <a:lnTo>
                    <a:pt x="0" y="0"/>
                  </a:lnTo>
                  <a:close/>
                </a:path>
              </a:pathLst>
            </a:custGeom>
            <a:blipFill>
              <a:blip r:embed="rId3"/>
              <a:stretch>
                <a:fillRect l="0" t="0" r="0" b="-17"/>
              </a:stretch>
            </a:blipFill>
          </p:spPr>
        </p:sp>
      </p:grpSp>
      <p:sp>
        <p:nvSpPr>
          <p:cNvPr name="TextBox 9" id="9"/>
          <p:cNvSpPr txBox="true"/>
          <p:nvPr/>
        </p:nvSpPr>
        <p:spPr>
          <a:xfrm rot="0">
            <a:off x="2354573" y="1991815"/>
            <a:ext cx="13578850" cy="373060"/>
          </a:xfrm>
          <a:prstGeom prst="rect">
            <a:avLst/>
          </a:prstGeom>
        </p:spPr>
        <p:txBody>
          <a:bodyPr anchor="t" rtlCol="false" tIns="0" lIns="0" bIns="0" rIns="0">
            <a:spAutoFit/>
          </a:bodyPr>
          <a:lstStyle/>
          <a:p>
            <a:pPr algn="ctr">
              <a:lnSpc>
                <a:spcPts val="2877"/>
              </a:lnSpc>
            </a:pPr>
            <a:r>
              <a:rPr lang="en-US" sz="3330">
                <a:solidFill>
                  <a:srgbClr val="000000"/>
                </a:solidFill>
                <a:latin typeface="Arial"/>
                <a:ea typeface="Arial"/>
                <a:cs typeface="Arial"/>
                <a:sym typeface="Arial"/>
              </a:rPr>
              <a:t>Department of Computer Science and Engineering</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4" id="4"/>
            <p:cNvSpPr txBox="true"/>
            <p:nvPr/>
          </p:nvSpPr>
          <p:spPr>
            <a:xfrm>
              <a:off x="0" y="57150"/>
              <a:ext cx="21031200" cy="2593975"/>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Objectives </a:t>
              </a:r>
            </a:p>
          </p:txBody>
        </p:sp>
      </p:grpSp>
      <p:grpSp>
        <p:nvGrpSpPr>
          <p:cNvPr name="Group 5" id="5"/>
          <p:cNvGrpSpPr/>
          <p:nvPr/>
        </p:nvGrpSpPr>
        <p:grpSpPr>
          <a:xfrm rot="0">
            <a:off x="1028700" y="1206351"/>
            <a:ext cx="24018048" cy="8051949"/>
            <a:chOff x="0" y="0"/>
            <a:chExt cx="22588800" cy="7572800"/>
          </a:xfrm>
        </p:grpSpPr>
        <p:sp>
          <p:nvSpPr>
            <p:cNvPr name="Freeform 6" id="6"/>
            <p:cNvSpPr/>
            <p:nvPr/>
          </p:nvSpPr>
          <p:spPr>
            <a:xfrm flipH="false" flipV="false" rot="0">
              <a:off x="0" y="0"/>
              <a:ext cx="22588799" cy="7572800"/>
            </a:xfrm>
            <a:custGeom>
              <a:avLst/>
              <a:gdLst/>
              <a:ahLst/>
              <a:cxnLst/>
              <a:rect r="r" b="b" t="t" l="l"/>
              <a:pathLst>
                <a:path h="7572800" w="22588799">
                  <a:moveTo>
                    <a:pt x="0" y="0"/>
                  </a:moveTo>
                  <a:lnTo>
                    <a:pt x="22588799" y="0"/>
                  </a:lnTo>
                  <a:lnTo>
                    <a:pt x="22588799" y="7572800"/>
                  </a:lnTo>
                  <a:lnTo>
                    <a:pt x="0" y="7572800"/>
                  </a:lnTo>
                  <a:close/>
                </a:path>
              </a:pathLst>
            </a:custGeom>
            <a:solidFill>
              <a:srgbClr val="000000">
                <a:alpha val="0"/>
              </a:srgbClr>
            </a:solidFill>
          </p:spPr>
        </p:sp>
        <p:sp>
          <p:nvSpPr>
            <p:cNvPr name="TextBox 7" id="7"/>
            <p:cNvSpPr txBox="true"/>
            <p:nvPr/>
          </p:nvSpPr>
          <p:spPr>
            <a:xfrm>
              <a:off x="0" y="-238125"/>
              <a:ext cx="22588800" cy="7810925"/>
            </a:xfrm>
            <a:prstGeom prst="rect">
              <a:avLst/>
            </a:prstGeom>
          </p:spPr>
          <p:txBody>
            <a:bodyPr anchor="ctr" rtlCol="false" tIns="0" lIns="0" bIns="0" rIns="0"/>
            <a:lstStyle/>
            <a:p>
              <a:pPr algn="l">
                <a:lnSpc>
                  <a:spcPts val="7199"/>
                </a:lnSpc>
              </a:pPr>
              <a:r>
                <a:rPr lang="en-US" b="true" sz="3999">
                  <a:solidFill>
                    <a:srgbClr val="000000"/>
                  </a:solidFill>
                  <a:latin typeface="Arial Bold"/>
                  <a:ea typeface="Arial Bold"/>
                  <a:cs typeface="Arial Bold"/>
                  <a:sym typeface="Arial Bold"/>
                </a:rPr>
                <a:t>C</a:t>
              </a:r>
              <a:r>
                <a:rPr lang="en-US" b="true" sz="3999">
                  <a:solidFill>
                    <a:srgbClr val="000000"/>
                  </a:solidFill>
                  <a:latin typeface="Arial Bold"/>
                  <a:ea typeface="Arial Bold"/>
                  <a:cs typeface="Arial Bold"/>
                  <a:sym typeface="Arial Bold"/>
                </a:rPr>
                <a:t>onduct end-to-end social network analysis on disaster tweets to: </a:t>
              </a:r>
            </a:p>
            <a:p>
              <a:pPr algn="l" marL="908302" indent="-454151" lvl="1">
                <a:lnSpc>
                  <a:spcPts val="7199"/>
                </a:lnSpc>
                <a:buFont typeface="Arial"/>
                <a:buChar char="•"/>
              </a:pPr>
              <a:r>
                <a:rPr lang="en-US" sz="3999">
                  <a:solidFill>
                    <a:srgbClr val="000000"/>
                  </a:solidFill>
                  <a:latin typeface="Arial"/>
                  <a:ea typeface="Arial"/>
                  <a:cs typeface="Arial"/>
                  <a:sym typeface="Arial"/>
                </a:rPr>
                <a:t>Under</a:t>
              </a:r>
              <a:r>
                <a:rPr lang="en-US" sz="3999">
                  <a:solidFill>
                    <a:srgbClr val="000000"/>
                  </a:solidFill>
                  <a:latin typeface="Arial"/>
                  <a:ea typeface="Arial"/>
                  <a:cs typeface="Arial"/>
                  <a:sym typeface="Arial"/>
                </a:rPr>
                <a:t>s</a:t>
              </a:r>
              <a:r>
                <a:rPr lang="en-US" sz="3999">
                  <a:solidFill>
                    <a:srgbClr val="000000"/>
                  </a:solidFill>
                  <a:latin typeface="Arial"/>
                  <a:ea typeface="Arial"/>
                  <a:cs typeface="Arial"/>
                  <a:sym typeface="Arial"/>
                </a:rPr>
                <a:t>tand how disaster information networks function </a:t>
              </a:r>
            </a:p>
            <a:p>
              <a:pPr algn="l" marL="908302" indent="-454151" lvl="1">
                <a:lnSpc>
                  <a:spcPts val="7199"/>
                </a:lnSpc>
                <a:buFont typeface="Arial"/>
                <a:buChar char="•"/>
              </a:pPr>
              <a:r>
                <a:rPr lang="en-US" sz="3999">
                  <a:solidFill>
                    <a:srgbClr val="000000"/>
                  </a:solidFill>
                  <a:latin typeface="Arial"/>
                  <a:ea typeface="Arial"/>
                  <a:cs typeface="Arial"/>
                  <a:sym typeface="Arial"/>
                </a:rPr>
                <a:t>Uncover structural patterns in hashtag usage </a:t>
              </a:r>
            </a:p>
            <a:p>
              <a:pPr algn="l" marL="908302" indent="-454151" lvl="1">
                <a:lnSpc>
                  <a:spcPts val="7199"/>
                </a:lnSpc>
                <a:buFont typeface="Arial"/>
                <a:buChar char="•"/>
              </a:pPr>
              <a:r>
                <a:rPr lang="en-US" sz="3999">
                  <a:solidFill>
                    <a:srgbClr val="000000"/>
                  </a:solidFill>
                  <a:latin typeface="Arial"/>
                  <a:ea typeface="Arial"/>
                  <a:cs typeface="Arial"/>
                  <a:sym typeface="Arial"/>
                </a:rPr>
                <a:t>Extract meaningful insights for emergency response </a:t>
              </a:r>
            </a:p>
            <a:p>
              <a:pPr algn="l" marL="908302" indent="-454151" lvl="1">
                <a:lnSpc>
                  <a:spcPts val="7199"/>
                </a:lnSpc>
                <a:buFont typeface="Arial"/>
                <a:buChar char="•"/>
              </a:pPr>
              <a:r>
                <a:rPr lang="en-US" sz="3999">
                  <a:solidFill>
                    <a:srgbClr val="000000"/>
                  </a:solidFill>
                  <a:latin typeface="Arial"/>
                  <a:ea typeface="Arial"/>
                  <a:cs typeface="Arial"/>
                  <a:sym typeface="Arial"/>
                </a:rPr>
                <a:t>Identify critical infrastructure hashtags</a:t>
              </a:r>
            </a:p>
            <a:p>
              <a:pPr algn="l" marL="908302" indent="-454151" lvl="1">
                <a:lnSpc>
                  <a:spcPts val="7199"/>
                </a:lnSpc>
                <a:buFont typeface="Arial"/>
                <a:buChar char="•"/>
              </a:pPr>
              <a:r>
                <a:rPr lang="en-US" sz="3999">
                  <a:solidFill>
                    <a:srgbClr val="000000"/>
                  </a:solidFill>
                  <a:latin typeface="Arial"/>
                  <a:ea typeface="Arial"/>
                  <a:cs typeface="Arial"/>
                  <a:sym typeface="Arial"/>
                </a:rPr>
                <a:t>Map information flow during disasters</a:t>
              </a: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121286"/>
            <a:ext cx="15773400" cy="1988400"/>
            <a:chOff x="0" y="0"/>
            <a:chExt cx="21031200" cy="2651200"/>
          </a:xfrm>
        </p:grpSpPr>
        <p:sp>
          <p:nvSpPr>
            <p:cNvPr name="Freeform 3" id="3"/>
            <p:cNvSpPr/>
            <p:nvPr/>
          </p:nvSpPr>
          <p:spPr>
            <a:xfrm flipH="false" flipV="false" rot="0">
              <a:off x="0" y="0"/>
              <a:ext cx="21031200" cy="2651200"/>
            </a:xfrm>
            <a:custGeom>
              <a:avLst/>
              <a:gdLst/>
              <a:ahLst/>
              <a:cxnLst/>
              <a:rect r="r" b="b" t="t" l="l"/>
              <a:pathLst>
                <a:path h="2651200" w="21031200">
                  <a:moveTo>
                    <a:pt x="0" y="0"/>
                  </a:moveTo>
                  <a:lnTo>
                    <a:pt x="21031200" y="0"/>
                  </a:lnTo>
                  <a:lnTo>
                    <a:pt x="21031200" y="2651200"/>
                  </a:lnTo>
                  <a:lnTo>
                    <a:pt x="0" y="2651200"/>
                  </a:lnTo>
                  <a:close/>
                </a:path>
              </a:pathLst>
            </a:custGeom>
            <a:solidFill>
              <a:srgbClr val="000000">
                <a:alpha val="0"/>
              </a:srgbClr>
            </a:solidFill>
          </p:spPr>
        </p:sp>
        <p:sp>
          <p:nvSpPr>
            <p:cNvPr name="TextBox 4" id="4"/>
            <p:cNvSpPr txBox="true"/>
            <p:nvPr/>
          </p:nvSpPr>
          <p:spPr>
            <a:xfrm>
              <a:off x="0" y="57150"/>
              <a:ext cx="21031200" cy="2594050"/>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Introduction</a:t>
              </a:r>
            </a:p>
          </p:txBody>
        </p:sp>
      </p:grpSp>
      <p:grpSp>
        <p:nvGrpSpPr>
          <p:cNvPr name="Group 5" id="5"/>
          <p:cNvGrpSpPr/>
          <p:nvPr/>
        </p:nvGrpSpPr>
        <p:grpSpPr>
          <a:xfrm rot="0">
            <a:off x="619200" y="501444"/>
            <a:ext cx="17049600" cy="9360249"/>
            <a:chOff x="0" y="0"/>
            <a:chExt cx="22732800" cy="12480332"/>
          </a:xfrm>
        </p:grpSpPr>
        <p:sp>
          <p:nvSpPr>
            <p:cNvPr name="Freeform 6" id="6"/>
            <p:cNvSpPr/>
            <p:nvPr/>
          </p:nvSpPr>
          <p:spPr>
            <a:xfrm flipH="false" flipV="false" rot="0">
              <a:off x="0" y="0"/>
              <a:ext cx="22732800" cy="12480332"/>
            </a:xfrm>
            <a:custGeom>
              <a:avLst/>
              <a:gdLst/>
              <a:ahLst/>
              <a:cxnLst/>
              <a:rect r="r" b="b" t="t" l="l"/>
              <a:pathLst>
                <a:path h="12480332" w="22732800">
                  <a:moveTo>
                    <a:pt x="0" y="0"/>
                  </a:moveTo>
                  <a:lnTo>
                    <a:pt x="22732800" y="0"/>
                  </a:lnTo>
                  <a:lnTo>
                    <a:pt x="22732800" y="12480332"/>
                  </a:lnTo>
                  <a:lnTo>
                    <a:pt x="0" y="12480332"/>
                  </a:lnTo>
                  <a:close/>
                </a:path>
              </a:pathLst>
            </a:custGeom>
            <a:solidFill>
              <a:srgbClr val="000000">
                <a:alpha val="0"/>
              </a:srgbClr>
            </a:solidFill>
          </p:spPr>
        </p:sp>
        <p:sp>
          <p:nvSpPr>
            <p:cNvPr name="TextBox 7" id="7"/>
            <p:cNvSpPr txBox="true"/>
            <p:nvPr/>
          </p:nvSpPr>
          <p:spPr>
            <a:xfrm>
              <a:off x="0" y="-85725"/>
              <a:ext cx="22732800" cy="12566057"/>
            </a:xfrm>
            <a:prstGeom prst="rect">
              <a:avLst/>
            </a:prstGeom>
          </p:spPr>
          <p:txBody>
            <a:bodyPr anchor="ctr" rtlCol="false" tIns="0" lIns="0" bIns="0" rIns="0"/>
            <a:lstStyle/>
            <a:p>
              <a:pPr algn="l">
                <a:lnSpc>
                  <a:spcPts val="4416"/>
                </a:lnSpc>
              </a:pPr>
              <a:r>
                <a:rPr lang="en-US" sz="3200">
                  <a:solidFill>
                    <a:srgbClr val="000000"/>
                  </a:solidFill>
                  <a:latin typeface="Arial"/>
                  <a:ea typeface="Arial"/>
                  <a:cs typeface="Arial"/>
                  <a:sym typeface="Arial"/>
                </a:rPr>
                <a:t>D</a:t>
              </a:r>
              <a:r>
                <a:rPr lang="en-US" sz="3200">
                  <a:solidFill>
                    <a:srgbClr val="000000"/>
                  </a:solidFill>
                  <a:latin typeface="Arial"/>
                  <a:ea typeface="Arial"/>
                  <a:cs typeface="Arial"/>
                  <a:sym typeface="Arial"/>
                </a:rPr>
                <a:t>isaster communication on Twitter relies on hashtag networks to organize and disseminate critical information. This project analyzes 8,562 disaster tweets to understand how hashtags interconnect, identify communication bottlenecks, and reveal patterns that can improve emergency response coordination.</a:t>
              </a:r>
            </a:p>
            <a:p>
              <a:pPr algn="l">
                <a:lnSpc>
                  <a:spcPts val="4416"/>
                </a:lnSpc>
              </a:pPr>
              <a:r>
                <a:rPr lang="en-US" b="true" sz="3200">
                  <a:solidFill>
                    <a:srgbClr val="000000"/>
                  </a:solidFill>
                  <a:latin typeface="Arial Bold"/>
                  <a:ea typeface="Arial Bold"/>
                  <a:cs typeface="Arial Bold"/>
                  <a:sym typeface="Arial Bold"/>
                </a:rPr>
                <a:t>Socio-Economic Importance: </a:t>
              </a:r>
            </a:p>
            <a:p>
              <a:pPr algn="l" marL="690885" indent="-345443" lvl="1">
                <a:lnSpc>
                  <a:spcPts val="5760"/>
                </a:lnSpc>
                <a:buFont typeface="Arial"/>
                <a:buChar char="•"/>
              </a:pPr>
              <a:r>
                <a:rPr lang="en-US" sz="3200">
                  <a:solidFill>
                    <a:srgbClr val="000000"/>
                  </a:solidFill>
                  <a:latin typeface="Arial"/>
                  <a:ea typeface="Arial"/>
                  <a:cs typeface="Arial"/>
                  <a:sym typeface="Arial"/>
                </a:rPr>
                <a:t>Real-time Crisis Response: Understanding hashtag networks helps emergency services coordinate faster </a:t>
              </a:r>
            </a:p>
            <a:p>
              <a:pPr algn="l" marL="690885" indent="-345443" lvl="1">
                <a:lnSpc>
                  <a:spcPts val="5760"/>
                </a:lnSpc>
                <a:buFont typeface="Arial"/>
                <a:buChar char="•"/>
              </a:pPr>
              <a:r>
                <a:rPr lang="en-US" sz="3200">
                  <a:solidFill>
                    <a:srgbClr val="000000"/>
                  </a:solidFill>
                  <a:latin typeface="Arial"/>
                  <a:ea typeface="Arial"/>
                  <a:cs typeface="Arial"/>
                  <a:sym typeface="Arial"/>
                </a:rPr>
                <a:t>Resource Allocation: Identifies which communication channels to prioritize during emergencies </a:t>
              </a:r>
            </a:p>
            <a:p>
              <a:pPr algn="l" marL="690885" indent="-345443" lvl="1">
                <a:lnSpc>
                  <a:spcPts val="5760"/>
                </a:lnSpc>
                <a:buFont typeface="Arial"/>
                <a:buChar char="•"/>
              </a:pPr>
              <a:r>
                <a:rPr lang="en-US" sz="3200">
                  <a:solidFill>
                    <a:srgbClr val="000000"/>
                  </a:solidFill>
                  <a:latin typeface="Arial"/>
                  <a:ea typeface="Arial"/>
                  <a:cs typeface="Arial"/>
                  <a:sym typeface="Arial"/>
                </a:rPr>
                <a:t>Cross-Disaster Learning: Reveals patterns that transfer between different disaster types </a:t>
              </a:r>
            </a:p>
            <a:p>
              <a:pPr algn="l" marL="690885" indent="-345443" lvl="1">
                <a:lnSpc>
                  <a:spcPts val="5760"/>
                </a:lnSpc>
                <a:buFont typeface="Arial"/>
                <a:buChar char="•"/>
              </a:pPr>
              <a:r>
                <a:rPr lang="en-US" sz="3200">
                  <a:solidFill>
                    <a:srgbClr val="000000"/>
                  </a:solidFill>
                  <a:latin typeface="Arial"/>
                  <a:ea typeface="Arial"/>
                  <a:cs typeface="Arial"/>
                  <a:sym typeface="Arial"/>
                </a:rPr>
                <a:t>Public Safety: Improves how warnings and updates reach vulnerable populations</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76430" y="155802"/>
            <a:ext cx="15773400" cy="1988344"/>
            <a:chOff x="0" y="0"/>
            <a:chExt cx="21031200" cy="2651125"/>
          </a:xfrm>
        </p:grpSpPr>
        <p:sp>
          <p:nvSpPr>
            <p:cNvPr name="Freeform 3" id="3"/>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4" id="4"/>
            <p:cNvSpPr txBox="true"/>
            <p:nvPr/>
          </p:nvSpPr>
          <p:spPr>
            <a:xfrm>
              <a:off x="0" y="57150"/>
              <a:ext cx="21031200" cy="2593975"/>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 Methodologies</a:t>
              </a:r>
            </a:p>
          </p:txBody>
        </p:sp>
      </p:grpSp>
      <p:sp>
        <p:nvSpPr>
          <p:cNvPr name="TextBox 5" id="5"/>
          <p:cNvSpPr txBox="true"/>
          <p:nvPr/>
        </p:nvSpPr>
        <p:spPr>
          <a:xfrm rot="0">
            <a:off x="1076430" y="2683390"/>
            <a:ext cx="20412045" cy="4958791"/>
          </a:xfrm>
          <a:prstGeom prst="rect">
            <a:avLst/>
          </a:prstGeom>
        </p:spPr>
        <p:txBody>
          <a:bodyPr anchor="t" rtlCol="false" tIns="0" lIns="0" bIns="0" rIns="0">
            <a:spAutoFit/>
          </a:bodyPr>
          <a:lstStyle/>
          <a:p>
            <a:pPr algn="l">
              <a:lnSpc>
                <a:spcPts val="6485"/>
              </a:lnSpc>
            </a:pPr>
            <a:r>
              <a:rPr lang="en-US" sz="6004">
                <a:solidFill>
                  <a:srgbClr val="000000"/>
                </a:solidFill>
                <a:latin typeface="Arial"/>
                <a:ea typeface="Arial"/>
                <a:cs typeface="Arial"/>
                <a:sym typeface="Arial"/>
              </a:rPr>
              <a:t>1.Dataset Collection</a:t>
            </a:r>
          </a:p>
          <a:p>
            <a:pPr algn="l">
              <a:lnSpc>
                <a:spcPts val="6485"/>
              </a:lnSpc>
            </a:pPr>
            <a:r>
              <a:rPr lang="en-US" sz="6004">
                <a:solidFill>
                  <a:srgbClr val="000000"/>
                </a:solidFill>
                <a:latin typeface="Arial"/>
                <a:ea typeface="Arial"/>
                <a:cs typeface="Arial"/>
                <a:sym typeface="Arial"/>
              </a:rPr>
              <a:t>2.Data Cleaning and Pre-processing</a:t>
            </a:r>
          </a:p>
          <a:p>
            <a:pPr algn="l">
              <a:lnSpc>
                <a:spcPts val="6485"/>
              </a:lnSpc>
            </a:pPr>
            <a:r>
              <a:rPr lang="en-US" sz="6004">
                <a:solidFill>
                  <a:srgbClr val="000000"/>
                </a:solidFill>
                <a:latin typeface="Arial"/>
                <a:ea typeface="Arial"/>
                <a:cs typeface="Arial"/>
                <a:sym typeface="Arial"/>
              </a:rPr>
              <a:t>3.Network Construction &amp; Visualization</a:t>
            </a:r>
          </a:p>
          <a:p>
            <a:pPr algn="l">
              <a:lnSpc>
                <a:spcPts val="6485"/>
              </a:lnSpc>
            </a:pPr>
            <a:r>
              <a:rPr lang="en-US" sz="6004">
                <a:solidFill>
                  <a:srgbClr val="000000"/>
                </a:solidFill>
                <a:latin typeface="Arial"/>
                <a:ea typeface="Arial"/>
                <a:cs typeface="Arial"/>
                <a:sym typeface="Arial"/>
              </a:rPr>
              <a:t>4.Network Analysis</a:t>
            </a:r>
          </a:p>
          <a:p>
            <a:pPr algn="l">
              <a:lnSpc>
                <a:spcPts val="6485"/>
              </a:lnSpc>
            </a:pPr>
            <a:r>
              <a:rPr lang="en-US" sz="6004">
                <a:solidFill>
                  <a:srgbClr val="000000"/>
                </a:solidFill>
                <a:latin typeface="Arial"/>
                <a:ea typeface="Arial"/>
                <a:cs typeface="Arial"/>
                <a:sym typeface="Arial"/>
              </a:rPr>
              <a:t>5.Insights &amp; Interpretation</a:t>
            </a:r>
          </a:p>
          <a:p>
            <a:pPr algn="l">
              <a:lnSpc>
                <a:spcPts val="6485"/>
              </a:lnSpc>
            </a:pPr>
            <a:r>
              <a:rPr lang="en-US" sz="6004">
                <a:solidFill>
                  <a:srgbClr val="000000"/>
                </a:solidFill>
                <a:latin typeface="Arial"/>
                <a:ea typeface="Arial"/>
                <a:cs typeface="Arial"/>
                <a:sym typeface="Arial"/>
              </a:rPr>
              <a:t>6.Presentation of Results</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400"/>
            <a:chOff x="0" y="0"/>
            <a:chExt cx="21031200" cy="2651200"/>
          </a:xfrm>
        </p:grpSpPr>
        <p:sp>
          <p:nvSpPr>
            <p:cNvPr name="Freeform 3" id="3"/>
            <p:cNvSpPr/>
            <p:nvPr/>
          </p:nvSpPr>
          <p:spPr>
            <a:xfrm flipH="false" flipV="false" rot="0">
              <a:off x="0" y="0"/>
              <a:ext cx="21031200" cy="2651200"/>
            </a:xfrm>
            <a:custGeom>
              <a:avLst/>
              <a:gdLst/>
              <a:ahLst/>
              <a:cxnLst/>
              <a:rect r="r" b="b" t="t" l="l"/>
              <a:pathLst>
                <a:path h="2651200" w="21031200">
                  <a:moveTo>
                    <a:pt x="0" y="0"/>
                  </a:moveTo>
                  <a:lnTo>
                    <a:pt x="21031200" y="0"/>
                  </a:lnTo>
                  <a:lnTo>
                    <a:pt x="21031200" y="2651200"/>
                  </a:lnTo>
                  <a:lnTo>
                    <a:pt x="0" y="2651200"/>
                  </a:lnTo>
                  <a:close/>
                </a:path>
              </a:pathLst>
            </a:custGeom>
            <a:solidFill>
              <a:srgbClr val="000000">
                <a:alpha val="0"/>
              </a:srgbClr>
            </a:solidFill>
          </p:spPr>
        </p:sp>
        <p:sp>
          <p:nvSpPr>
            <p:cNvPr name="TextBox 4" id="4"/>
            <p:cNvSpPr txBox="true"/>
            <p:nvPr/>
          </p:nvSpPr>
          <p:spPr>
            <a:xfrm>
              <a:off x="0" y="57150"/>
              <a:ext cx="21031200" cy="2594050"/>
            </a:xfrm>
            <a:prstGeom prst="rect">
              <a:avLst/>
            </a:prstGeom>
          </p:spPr>
          <p:txBody>
            <a:bodyPr anchor="ctr" rtlCol="false" tIns="0" lIns="0" bIns="0" rIns="0"/>
            <a:lstStyle/>
            <a:p>
              <a:pPr algn="l">
                <a:lnSpc>
                  <a:spcPts val="7128"/>
                </a:lnSpc>
              </a:pPr>
              <a:r>
                <a:rPr lang="en-US" sz="6600">
                  <a:solidFill>
                    <a:srgbClr val="000000"/>
                  </a:solidFill>
                  <a:latin typeface="Play"/>
                  <a:ea typeface="Play"/>
                  <a:cs typeface="Play"/>
                  <a:sym typeface="Play"/>
                </a:rPr>
                <a:t>Dataset Collection</a:t>
              </a:r>
            </a:p>
          </p:txBody>
        </p:sp>
      </p:grpSp>
      <p:sp>
        <p:nvSpPr>
          <p:cNvPr name="TextBox 5" id="5"/>
          <p:cNvSpPr txBox="true"/>
          <p:nvPr/>
        </p:nvSpPr>
        <p:spPr>
          <a:xfrm rot="0">
            <a:off x="1028700" y="2716542"/>
            <a:ext cx="17208826" cy="6541758"/>
          </a:xfrm>
          <a:prstGeom prst="rect">
            <a:avLst/>
          </a:prstGeom>
        </p:spPr>
        <p:txBody>
          <a:bodyPr anchor="t" rtlCol="false" tIns="0" lIns="0" bIns="0" rIns="0">
            <a:spAutoFit/>
          </a:bodyPr>
          <a:lstStyle/>
          <a:p>
            <a:pPr algn="l" marL="820481" indent="-410241" lvl="1">
              <a:lnSpc>
                <a:spcPts val="4332"/>
              </a:lnSpc>
              <a:buFont typeface="Arial"/>
              <a:buChar char="•"/>
            </a:pPr>
            <a:r>
              <a:rPr lang="en-US" sz="3800">
                <a:solidFill>
                  <a:srgbClr val="000000"/>
                </a:solidFill>
                <a:latin typeface="Arial"/>
                <a:ea typeface="Arial"/>
                <a:cs typeface="Arial"/>
                <a:sym typeface="Arial"/>
              </a:rPr>
              <a:t>Sourc</a:t>
            </a:r>
            <a:r>
              <a:rPr lang="en-US" sz="3800">
                <a:solidFill>
                  <a:srgbClr val="000000"/>
                </a:solidFill>
                <a:latin typeface="Arial"/>
                <a:ea typeface="Arial"/>
                <a:cs typeface="Arial"/>
                <a:sym typeface="Arial"/>
              </a:rPr>
              <a:t>e: Disaster Tweet Detection (GitHu</a:t>
            </a:r>
            <a:r>
              <a:rPr lang="en-US" sz="3800">
                <a:solidFill>
                  <a:srgbClr val="000000"/>
                </a:solidFill>
                <a:latin typeface="Arial"/>
                <a:ea typeface="Arial"/>
                <a:cs typeface="Arial"/>
                <a:sym typeface="Arial"/>
              </a:rPr>
              <a:t>b</a:t>
            </a:r>
            <a:r>
              <a:rPr lang="en-US" sz="3800">
                <a:solidFill>
                  <a:srgbClr val="000000"/>
                </a:solidFill>
                <a:latin typeface="Arial"/>
                <a:ea typeface="Arial"/>
                <a:cs typeface="Arial"/>
                <a:sym typeface="Arial"/>
              </a:rPr>
              <a:t>)</a:t>
            </a:r>
            <a:r>
              <a:rPr lang="en-US" sz="3800">
                <a:solidFill>
                  <a:srgbClr val="000000"/>
                </a:solidFill>
                <a:latin typeface="Arial"/>
                <a:ea typeface="Arial"/>
                <a:cs typeface="Arial"/>
                <a:sym typeface="Arial"/>
              </a:rPr>
              <a:t> </a:t>
            </a:r>
          </a:p>
          <a:p>
            <a:pPr algn="l" marL="820481" indent="-410241" lvl="1">
              <a:lnSpc>
                <a:spcPts val="4332"/>
              </a:lnSpc>
              <a:buFont typeface="Arial"/>
              <a:buChar char="•"/>
            </a:pPr>
            <a:r>
              <a:rPr lang="en-US" sz="3800">
                <a:solidFill>
                  <a:srgbClr val="000000"/>
                </a:solidFill>
                <a:latin typeface="Arial"/>
                <a:ea typeface="Arial"/>
                <a:cs typeface="Arial"/>
                <a:sym typeface="Arial"/>
              </a:rPr>
              <a:t>Si</a:t>
            </a:r>
            <a:r>
              <a:rPr lang="en-US" sz="3800">
                <a:solidFill>
                  <a:srgbClr val="000000"/>
                </a:solidFill>
                <a:latin typeface="Arial"/>
                <a:ea typeface="Arial"/>
                <a:cs typeface="Arial"/>
                <a:sym typeface="Arial"/>
              </a:rPr>
              <a:t>z</a:t>
            </a:r>
            <a:r>
              <a:rPr lang="en-US" sz="3800">
                <a:solidFill>
                  <a:srgbClr val="000000"/>
                </a:solidFill>
                <a:latin typeface="Arial"/>
                <a:ea typeface="Arial"/>
                <a:cs typeface="Arial"/>
                <a:sym typeface="Arial"/>
              </a:rPr>
              <a:t>e</a:t>
            </a:r>
            <a:r>
              <a:rPr lang="en-US" sz="3800">
                <a:solidFill>
                  <a:srgbClr val="000000"/>
                </a:solidFill>
                <a:latin typeface="Arial"/>
                <a:ea typeface="Arial"/>
                <a:cs typeface="Arial"/>
                <a:sym typeface="Arial"/>
              </a:rPr>
              <a:t>:</a:t>
            </a:r>
            <a:r>
              <a:rPr lang="en-US" sz="3800">
                <a:solidFill>
                  <a:srgbClr val="000000"/>
                </a:solidFill>
                <a:latin typeface="Arial"/>
                <a:ea typeface="Arial"/>
                <a:cs typeface="Arial"/>
                <a:sym typeface="Arial"/>
              </a:rPr>
              <a:t> </a:t>
            </a:r>
            <a:r>
              <a:rPr lang="en-US" sz="3800">
                <a:solidFill>
                  <a:srgbClr val="000000"/>
                </a:solidFill>
                <a:latin typeface="Arial"/>
                <a:ea typeface="Arial"/>
                <a:cs typeface="Arial"/>
                <a:sym typeface="Arial"/>
              </a:rPr>
              <a:t>8,562 </a:t>
            </a:r>
            <a:r>
              <a:rPr lang="en-US" sz="3800">
                <a:solidFill>
                  <a:srgbClr val="000000"/>
                </a:solidFill>
                <a:latin typeface="Arial"/>
                <a:ea typeface="Arial"/>
                <a:cs typeface="Arial"/>
                <a:sym typeface="Arial"/>
              </a:rPr>
              <a:t>t</a:t>
            </a:r>
            <a:r>
              <a:rPr lang="en-US" sz="3800">
                <a:solidFill>
                  <a:srgbClr val="000000"/>
                </a:solidFill>
                <a:latin typeface="Arial"/>
                <a:ea typeface="Arial"/>
                <a:cs typeface="Arial"/>
                <a:sym typeface="Arial"/>
              </a:rPr>
              <a:t>we</a:t>
            </a:r>
            <a:r>
              <a:rPr lang="en-US" sz="3800">
                <a:solidFill>
                  <a:srgbClr val="000000"/>
                </a:solidFill>
                <a:latin typeface="Arial"/>
                <a:ea typeface="Arial"/>
                <a:cs typeface="Arial"/>
                <a:sym typeface="Arial"/>
              </a:rPr>
              <a:t>et</a:t>
            </a:r>
            <a:r>
              <a:rPr lang="en-US" sz="3800">
                <a:solidFill>
                  <a:srgbClr val="000000"/>
                </a:solidFill>
                <a:latin typeface="Arial"/>
                <a:ea typeface="Arial"/>
                <a:cs typeface="Arial"/>
                <a:sym typeface="Arial"/>
              </a:rPr>
              <a:t>s</a:t>
            </a:r>
            <a:r>
              <a:rPr lang="en-US" sz="3800">
                <a:solidFill>
                  <a:srgbClr val="000000"/>
                </a:solidFill>
                <a:latin typeface="Arial"/>
                <a:ea typeface="Arial"/>
                <a:cs typeface="Arial"/>
                <a:sym typeface="Arial"/>
              </a:rPr>
              <a:t> </a:t>
            </a:r>
            <a:r>
              <a:rPr lang="en-US" sz="3800">
                <a:solidFill>
                  <a:srgbClr val="000000"/>
                </a:solidFill>
                <a:latin typeface="Arial"/>
                <a:ea typeface="Arial"/>
                <a:cs typeface="Arial"/>
                <a:sym typeface="Arial"/>
              </a:rPr>
              <a:t>(5</a:t>
            </a:r>
            <a:r>
              <a:rPr lang="en-US" sz="3800">
                <a:solidFill>
                  <a:srgbClr val="000000"/>
                </a:solidFill>
                <a:latin typeface="Arial"/>
                <a:ea typeface="Arial"/>
                <a:cs typeface="Arial"/>
                <a:sym typeface="Arial"/>
              </a:rPr>
              <a:t> </a:t>
            </a:r>
            <a:r>
              <a:rPr lang="en-US" sz="3800">
                <a:solidFill>
                  <a:srgbClr val="000000"/>
                </a:solidFill>
                <a:latin typeface="Arial"/>
                <a:ea typeface="Arial"/>
                <a:cs typeface="Arial"/>
                <a:sym typeface="Arial"/>
              </a:rPr>
              <a:t>co</a:t>
            </a:r>
            <a:r>
              <a:rPr lang="en-US" sz="3800">
                <a:solidFill>
                  <a:srgbClr val="000000"/>
                </a:solidFill>
                <a:latin typeface="Arial"/>
                <a:ea typeface="Arial"/>
                <a:cs typeface="Arial"/>
                <a:sym typeface="Arial"/>
              </a:rPr>
              <a:t>l</a:t>
            </a:r>
            <a:r>
              <a:rPr lang="en-US" sz="3800">
                <a:solidFill>
                  <a:srgbClr val="000000"/>
                </a:solidFill>
                <a:latin typeface="Arial"/>
                <a:ea typeface="Arial"/>
                <a:cs typeface="Arial"/>
                <a:sym typeface="Arial"/>
              </a:rPr>
              <a:t>umn</a:t>
            </a:r>
            <a:r>
              <a:rPr lang="en-US" sz="3800" u="none">
                <a:solidFill>
                  <a:srgbClr val="000000"/>
                </a:solidFill>
                <a:latin typeface="Arial"/>
                <a:ea typeface="Arial"/>
                <a:cs typeface="Arial"/>
                <a:sym typeface="Arial"/>
              </a:rPr>
              <a:t>s:</a:t>
            </a:r>
            <a:r>
              <a:rPr lang="en-US" sz="3800">
                <a:solidFill>
                  <a:srgbClr val="000000"/>
                </a:solidFill>
                <a:latin typeface="Arial"/>
                <a:ea typeface="Arial"/>
                <a:cs typeface="Arial"/>
                <a:sym typeface="Arial"/>
              </a:rPr>
              <a:t> id, </a:t>
            </a:r>
            <a:r>
              <a:rPr lang="en-US" sz="3800" u="none">
                <a:solidFill>
                  <a:srgbClr val="000000"/>
                </a:solidFill>
                <a:latin typeface="Arial"/>
                <a:ea typeface="Arial"/>
                <a:cs typeface="Arial"/>
                <a:sym typeface="Arial"/>
              </a:rPr>
              <a:t>ke</a:t>
            </a:r>
            <a:r>
              <a:rPr lang="en-US" sz="3800">
                <a:solidFill>
                  <a:srgbClr val="000000"/>
                </a:solidFill>
                <a:latin typeface="Arial"/>
                <a:ea typeface="Arial"/>
                <a:cs typeface="Arial"/>
                <a:sym typeface="Arial"/>
              </a:rPr>
              <a:t>yw</a:t>
            </a:r>
            <a:r>
              <a:rPr lang="en-US" sz="3800" u="none">
                <a:solidFill>
                  <a:srgbClr val="000000"/>
                </a:solidFill>
                <a:latin typeface="Arial"/>
                <a:ea typeface="Arial"/>
                <a:cs typeface="Arial"/>
                <a:sym typeface="Arial"/>
              </a:rPr>
              <a:t>o</a:t>
            </a:r>
            <a:r>
              <a:rPr lang="en-US" sz="3800">
                <a:solidFill>
                  <a:srgbClr val="000000"/>
                </a:solidFill>
                <a:latin typeface="Arial"/>
                <a:ea typeface="Arial"/>
                <a:cs typeface="Arial"/>
                <a:sym typeface="Arial"/>
              </a:rPr>
              <a:t>r</a:t>
            </a:r>
            <a:r>
              <a:rPr lang="en-US" sz="3800" u="none">
                <a:solidFill>
                  <a:srgbClr val="000000"/>
                </a:solidFill>
                <a:latin typeface="Arial"/>
                <a:ea typeface="Arial"/>
                <a:cs typeface="Arial"/>
                <a:sym typeface="Arial"/>
              </a:rPr>
              <a:t>d</a:t>
            </a:r>
            <a:r>
              <a:rPr lang="en-US" sz="3800">
                <a:solidFill>
                  <a:srgbClr val="000000"/>
                </a:solidFill>
                <a:latin typeface="Arial"/>
                <a:ea typeface="Arial"/>
                <a:cs typeface="Arial"/>
                <a:sym typeface="Arial"/>
              </a:rPr>
              <a:t>, loc</a:t>
            </a:r>
            <a:r>
              <a:rPr lang="en-US" sz="3800" u="none">
                <a:solidFill>
                  <a:srgbClr val="000000"/>
                </a:solidFill>
                <a:latin typeface="Arial"/>
                <a:ea typeface="Arial"/>
                <a:cs typeface="Arial"/>
                <a:sym typeface="Arial"/>
              </a:rPr>
              <a:t>at</a:t>
            </a:r>
            <a:r>
              <a:rPr lang="en-US" sz="3800">
                <a:solidFill>
                  <a:srgbClr val="000000"/>
                </a:solidFill>
                <a:latin typeface="Arial"/>
                <a:ea typeface="Arial"/>
                <a:cs typeface="Arial"/>
                <a:sym typeface="Arial"/>
              </a:rPr>
              <a:t>io</a:t>
            </a:r>
            <a:r>
              <a:rPr lang="en-US" sz="3800" u="none">
                <a:solidFill>
                  <a:srgbClr val="000000"/>
                </a:solidFill>
                <a:latin typeface="Arial"/>
                <a:ea typeface="Arial"/>
                <a:cs typeface="Arial"/>
                <a:sym typeface="Arial"/>
              </a:rPr>
              <a:t>n</a:t>
            </a:r>
            <a:r>
              <a:rPr lang="en-US" sz="3800">
                <a:solidFill>
                  <a:srgbClr val="000000"/>
                </a:solidFill>
                <a:latin typeface="Arial"/>
                <a:ea typeface="Arial"/>
                <a:cs typeface="Arial"/>
                <a:sym typeface="Arial"/>
              </a:rPr>
              <a:t>, </a:t>
            </a:r>
            <a:r>
              <a:rPr lang="en-US" sz="3800" u="none">
                <a:solidFill>
                  <a:srgbClr val="000000"/>
                </a:solidFill>
                <a:latin typeface="Arial"/>
                <a:ea typeface="Arial"/>
                <a:cs typeface="Arial"/>
                <a:sym typeface="Arial"/>
              </a:rPr>
              <a:t>te</a:t>
            </a:r>
            <a:r>
              <a:rPr lang="en-US" sz="3800">
                <a:solidFill>
                  <a:srgbClr val="000000"/>
                </a:solidFill>
                <a:latin typeface="Arial"/>
                <a:ea typeface="Arial"/>
                <a:cs typeface="Arial"/>
                <a:sym typeface="Arial"/>
              </a:rPr>
              <a:t>x</a:t>
            </a:r>
            <a:r>
              <a:rPr lang="en-US" sz="3800" u="none">
                <a:solidFill>
                  <a:srgbClr val="000000"/>
                </a:solidFill>
                <a:latin typeface="Arial"/>
                <a:ea typeface="Arial"/>
                <a:cs typeface="Arial"/>
                <a:sym typeface="Arial"/>
              </a:rPr>
              <a:t>t</a:t>
            </a:r>
            <a:r>
              <a:rPr lang="en-US" sz="3800">
                <a:solidFill>
                  <a:srgbClr val="000000"/>
                </a:solidFill>
                <a:latin typeface="Arial"/>
                <a:ea typeface="Arial"/>
                <a:cs typeface="Arial"/>
                <a:sym typeface="Arial"/>
              </a:rPr>
              <a:t>,</a:t>
            </a:r>
            <a:r>
              <a:rPr lang="en-US" sz="3800">
                <a:solidFill>
                  <a:srgbClr val="000000"/>
                </a:solidFill>
                <a:latin typeface="Arial"/>
                <a:ea typeface="Arial"/>
                <a:cs typeface="Arial"/>
                <a:sym typeface="Arial"/>
              </a:rPr>
              <a:t> target)</a:t>
            </a:r>
          </a:p>
          <a:p>
            <a:pPr algn="l" marL="820481" indent="-410241" lvl="1">
              <a:lnSpc>
                <a:spcPts val="4332"/>
              </a:lnSpc>
              <a:buFont typeface="Arial"/>
              <a:buChar char="•"/>
            </a:pPr>
            <a:r>
              <a:rPr lang="en-US" sz="3800">
                <a:solidFill>
                  <a:srgbClr val="000000"/>
                </a:solidFill>
                <a:latin typeface="Arial"/>
                <a:ea typeface="Arial"/>
                <a:cs typeface="Arial"/>
                <a:sym typeface="Arial"/>
              </a:rPr>
              <a:t>Labels: 1 = disaster tweet, 0 = non-disas</a:t>
            </a:r>
            <a:r>
              <a:rPr lang="en-US" sz="3800">
                <a:solidFill>
                  <a:srgbClr val="000000"/>
                </a:solidFill>
                <a:latin typeface="Arial"/>
                <a:ea typeface="Arial"/>
                <a:cs typeface="Arial"/>
                <a:sym typeface="Arial"/>
              </a:rPr>
              <a:t>te</a:t>
            </a:r>
            <a:r>
              <a:rPr lang="en-US" sz="3800">
                <a:solidFill>
                  <a:srgbClr val="000000"/>
                </a:solidFill>
                <a:latin typeface="Arial"/>
                <a:ea typeface="Arial"/>
                <a:cs typeface="Arial"/>
                <a:sym typeface="Arial"/>
              </a:rPr>
              <a:t>r tweet </a:t>
            </a:r>
          </a:p>
          <a:p>
            <a:pPr algn="l" marL="820481" indent="-410241" lvl="1">
              <a:lnSpc>
                <a:spcPts val="4332"/>
              </a:lnSpc>
              <a:buFont typeface="Arial"/>
              <a:buChar char="•"/>
            </a:pPr>
            <a:r>
              <a:rPr lang="en-US" sz="3800">
                <a:solidFill>
                  <a:srgbClr val="000000"/>
                </a:solidFill>
                <a:latin typeface="Arial"/>
                <a:ea typeface="Arial"/>
                <a:cs typeface="Arial"/>
                <a:sym typeface="Arial"/>
              </a:rPr>
              <a:t>N</a:t>
            </a:r>
            <a:r>
              <a:rPr lang="en-US" sz="3800">
                <a:solidFill>
                  <a:srgbClr val="000000"/>
                </a:solidFill>
                <a:latin typeface="Arial"/>
                <a:ea typeface="Arial"/>
                <a:cs typeface="Arial"/>
                <a:sym typeface="Arial"/>
              </a:rPr>
              <a:t>et</a:t>
            </a:r>
            <a:r>
              <a:rPr lang="en-US" sz="3800">
                <a:solidFill>
                  <a:srgbClr val="000000"/>
                </a:solidFill>
                <a:latin typeface="Arial"/>
                <a:ea typeface="Arial"/>
                <a:cs typeface="Arial"/>
                <a:sym typeface="Arial"/>
              </a:rPr>
              <a:t>work: 287 unique hashtags, 1,456 co-occurrenc</a:t>
            </a:r>
            <a:r>
              <a:rPr lang="en-US" sz="3800">
                <a:solidFill>
                  <a:srgbClr val="000000"/>
                </a:solidFill>
                <a:latin typeface="Arial"/>
                <a:ea typeface="Arial"/>
                <a:cs typeface="Arial"/>
                <a:sym typeface="Arial"/>
              </a:rPr>
              <a:t>e e</a:t>
            </a:r>
            <a:r>
              <a:rPr lang="en-US" sz="3800">
                <a:solidFill>
                  <a:srgbClr val="000000"/>
                </a:solidFill>
                <a:latin typeface="Arial"/>
                <a:ea typeface="Arial"/>
                <a:cs typeface="Arial"/>
                <a:sym typeface="Arial"/>
              </a:rPr>
              <a:t>d</a:t>
            </a:r>
            <a:r>
              <a:rPr lang="en-US" sz="3800">
                <a:solidFill>
                  <a:srgbClr val="000000"/>
                </a:solidFill>
                <a:latin typeface="Arial"/>
                <a:ea typeface="Arial"/>
                <a:cs typeface="Arial"/>
                <a:sym typeface="Arial"/>
              </a:rPr>
              <a:t>ges </a:t>
            </a:r>
          </a:p>
          <a:p>
            <a:pPr algn="l" marL="820481" indent="-410241" lvl="1">
              <a:lnSpc>
                <a:spcPts val="4332"/>
              </a:lnSpc>
              <a:buFont typeface="Arial"/>
              <a:buChar char="•"/>
            </a:pPr>
            <a:r>
              <a:rPr lang="en-US" sz="3800">
                <a:solidFill>
                  <a:srgbClr val="000000"/>
                </a:solidFill>
                <a:latin typeface="Arial"/>
                <a:ea typeface="Arial"/>
                <a:cs typeface="Arial"/>
                <a:sym typeface="Arial"/>
              </a:rPr>
              <a:t>Ty</a:t>
            </a:r>
            <a:r>
              <a:rPr lang="en-US" sz="3800">
                <a:solidFill>
                  <a:srgbClr val="000000"/>
                </a:solidFill>
                <a:latin typeface="Arial"/>
                <a:ea typeface="Arial"/>
                <a:cs typeface="Arial"/>
                <a:sym typeface="Arial"/>
              </a:rPr>
              <a:t>pe</a:t>
            </a:r>
            <a:r>
              <a:rPr lang="en-US" sz="3800">
                <a:solidFill>
                  <a:srgbClr val="000000"/>
                </a:solidFill>
                <a:latin typeface="Arial"/>
                <a:ea typeface="Arial"/>
                <a:cs typeface="Arial"/>
                <a:sym typeface="Arial"/>
              </a:rPr>
              <a:t>: H</a:t>
            </a:r>
            <a:r>
              <a:rPr lang="en-US" sz="3800">
                <a:solidFill>
                  <a:srgbClr val="000000"/>
                </a:solidFill>
                <a:latin typeface="Arial"/>
                <a:ea typeface="Arial"/>
                <a:cs typeface="Arial"/>
                <a:sym typeface="Arial"/>
              </a:rPr>
              <a:t>as</a:t>
            </a:r>
            <a:r>
              <a:rPr lang="en-US" sz="3800">
                <a:solidFill>
                  <a:srgbClr val="000000"/>
                </a:solidFill>
                <a:latin typeface="Arial"/>
                <a:ea typeface="Arial"/>
                <a:cs typeface="Arial"/>
                <a:sym typeface="Arial"/>
              </a:rPr>
              <a:t>ht</a:t>
            </a:r>
            <a:r>
              <a:rPr lang="en-US" sz="3800">
                <a:solidFill>
                  <a:srgbClr val="000000"/>
                </a:solidFill>
                <a:latin typeface="Arial"/>
                <a:ea typeface="Arial"/>
                <a:cs typeface="Arial"/>
                <a:sym typeface="Arial"/>
              </a:rPr>
              <a:t>a</a:t>
            </a:r>
            <a:r>
              <a:rPr lang="en-US" sz="3800">
                <a:solidFill>
                  <a:srgbClr val="000000"/>
                </a:solidFill>
                <a:latin typeface="Arial"/>
                <a:ea typeface="Arial"/>
                <a:cs typeface="Arial"/>
                <a:sym typeface="Arial"/>
              </a:rPr>
              <a:t>g</a:t>
            </a:r>
            <a:r>
              <a:rPr lang="en-US" sz="3800">
                <a:solidFill>
                  <a:srgbClr val="000000"/>
                </a:solidFill>
                <a:latin typeface="Arial"/>
                <a:ea typeface="Arial"/>
                <a:cs typeface="Arial"/>
                <a:sym typeface="Arial"/>
              </a:rPr>
              <a:t> </a:t>
            </a:r>
            <a:r>
              <a:rPr lang="en-US" sz="3800">
                <a:solidFill>
                  <a:srgbClr val="000000"/>
                </a:solidFill>
                <a:latin typeface="Arial"/>
                <a:ea typeface="Arial"/>
                <a:cs typeface="Arial"/>
                <a:sym typeface="Arial"/>
              </a:rPr>
              <a:t>co-occ</a:t>
            </a:r>
            <a:r>
              <a:rPr lang="en-US" sz="3800">
                <a:solidFill>
                  <a:srgbClr val="000000"/>
                </a:solidFill>
                <a:latin typeface="Arial"/>
                <a:ea typeface="Arial"/>
                <a:cs typeface="Arial"/>
                <a:sym typeface="Arial"/>
              </a:rPr>
              <a:t>urr</a:t>
            </a:r>
            <a:r>
              <a:rPr lang="en-US" sz="3800">
                <a:solidFill>
                  <a:srgbClr val="000000"/>
                </a:solidFill>
                <a:latin typeface="Arial"/>
                <a:ea typeface="Arial"/>
                <a:cs typeface="Arial"/>
                <a:sym typeface="Arial"/>
              </a:rPr>
              <a:t>ence n</a:t>
            </a:r>
            <a:r>
              <a:rPr lang="en-US" sz="3800">
                <a:solidFill>
                  <a:srgbClr val="000000"/>
                </a:solidFill>
                <a:latin typeface="Arial"/>
                <a:ea typeface="Arial"/>
                <a:cs typeface="Arial"/>
                <a:sym typeface="Arial"/>
              </a:rPr>
              <a:t>etwork</a:t>
            </a:r>
            <a:r>
              <a:rPr lang="en-US" sz="3800">
                <a:solidFill>
                  <a:srgbClr val="000000"/>
                </a:solidFill>
                <a:latin typeface="Arial"/>
                <a:ea typeface="Arial"/>
                <a:cs typeface="Arial"/>
                <a:sym typeface="Arial"/>
              </a:rPr>
              <a:t> (undirected, weighted)</a:t>
            </a:r>
          </a:p>
          <a:p>
            <a:pPr algn="l">
              <a:lnSpc>
                <a:spcPts val="4332"/>
              </a:lnSpc>
            </a:pPr>
          </a:p>
          <a:p>
            <a:pPr algn="l">
              <a:lnSpc>
                <a:spcPts val="4332"/>
              </a:lnSpc>
            </a:pPr>
            <a:r>
              <a:rPr lang="en-US" sz="3800">
                <a:solidFill>
                  <a:srgbClr val="000000"/>
                </a:solidFill>
                <a:latin typeface="Arial"/>
                <a:ea typeface="Arial"/>
                <a:cs typeface="Arial"/>
                <a:sym typeface="Arial"/>
              </a:rPr>
              <a:t>Columns description :</a:t>
            </a:r>
          </a:p>
          <a:p>
            <a:pPr algn="l">
              <a:lnSpc>
                <a:spcPts val="4332"/>
              </a:lnSpc>
            </a:pPr>
            <a:r>
              <a:rPr lang="en-US" sz="3800">
                <a:solidFill>
                  <a:srgbClr val="000000"/>
                </a:solidFill>
                <a:latin typeface="Arial"/>
                <a:ea typeface="Arial"/>
                <a:cs typeface="Arial"/>
                <a:sym typeface="Arial"/>
              </a:rPr>
              <a:t>1. id - Unique tweet identifier</a:t>
            </a:r>
          </a:p>
          <a:p>
            <a:pPr algn="l">
              <a:lnSpc>
                <a:spcPts val="4332"/>
              </a:lnSpc>
            </a:pPr>
            <a:r>
              <a:rPr lang="en-US" sz="3800">
                <a:solidFill>
                  <a:srgbClr val="000000"/>
                </a:solidFill>
                <a:latin typeface="Arial"/>
                <a:ea typeface="Arial"/>
                <a:cs typeface="Arial"/>
                <a:sym typeface="Arial"/>
              </a:rPr>
              <a:t>2. keyword - Keyword from tweet (if any)</a:t>
            </a:r>
          </a:p>
          <a:p>
            <a:pPr algn="l">
              <a:lnSpc>
                <a:spcPts val="4332"/>
              </a:lnSpc>
            </a:pPr>
            <a:r>
              <a:rPr lang="en-US" sz="3800">
                <a:solidFill>
                  <a:srgbClr val="000000"/>
                </a:solidFill>
                <a:latin typeface="Arial"/>
                <a:ea typeface="Arial"/>
                <a:cs typeface="Arial"/>
                <a:sym typeface="Arial"/>
              </a:rPr>
              <a:t>3. location - User location (if provided) </a:t>
            </a:r>
          </a:p>
          <a:p>
            <a:pPr algn="l">
              <a:lnSpc>
                <a:spcPts val="4332"/>
              </a:lnSpc>
            </a:pPr>
            <a:r>
              <a:rPr lang="en-US" sz="3800">
                <a:solidFill>
                  <a:srgbClr val="000000"/>
                </a:solidFill>
                <a:latin typeface="Arial"/>
                <a:ea typeface="Arial"/>
                <a:cs typeface="Arial"/>
                <a:sym typeface="Arial"/>
              </a:rPr>
              <a:t>4. text - Full tweet text </a:t>
            </a:r>
          </a:p>
          <a:p>
            <a:pPr algn="l">
              <a:lnSpc>
                <a:spcPts val="4332"/>
              </a:lnSpc>
            </a:pPr>
            <a:r>
              <a:rPr lang="en-US" sz="3800">
                <a:solidFill>
                  <a:srgbClr val="000000"/>
                </a:solidFill>
                <a:latin typeface="Arial"/>
                <a:ea typeface="Arial"/>
                <a:cs typeface="Arial"/>
                <a:sym typeface="Arial"/>
              </a:rPr>
              <a:t>5. target - 1 = disaster, 0 = non-disaster</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507970"/>
            <a:ext cx="15773400" cy="1988344"/>
            <a:chOff x="0" y="0"/>
            <a:chExt cx="21031200" cy="2651125"/>
          </a:xfrm>
        </p:grpSpPr>
        <p:sp>
          <p:nvSpPr>
            <p:cNvPr name="Freeform 3" id="3"/>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4" id="4"/>
            <p:cNvSpPr txBox="true"/>
            <p:nvPr/>
          </p:nvSpPr>
          <p:spPr>
            <a:xfrm>
              <a:off x="0" y="57150"/>
              <a:ext cx="21031200" cy="2593975"/>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  </a:t>
              </a:r>
            </a:p>
          </p:txBody>
        </p:sp>
      </p:grpSp>
      <p:sp>
        <p:nvSpPr>
          <p:cNvPr name="TextBox 5" id="5"/>
          <p:cNvSpPr txBox="true"/>
          <p:nvPr/>
        </p:nvSpPr>
        <p:spPr>
          <a:xfrm rot="0">
            <a:off x="887563" y="2217404"/>
            <a:ext cx="19246426" cy="6836664"/>
          </a:xfrm>
          <a:prstGeom prst="rect">
            <a:avLst/>
          </a:prstGeom>
        </p:spPr>
        <p:txBody>
          <a:bodyPr anchor="t" rtlCol="false" tIns="0" lIns="0" bIns="0" rIns="0">
            <a:spAutoFit/>
          </a:bodyPr>
          <a:lstStyle/>
          <a:p>
            <a:pPr algn="l">
              <a:lnSpc>
                <a:spcPts val="3888"/>
              </a:lnSpc>
            </a:pPr>
            <a:r>
              <a:rPr lang="en-US" sz="3600">
                <a:solidFill>
                  <a:srgbClr val="000000"/>
                </a:solidFill>
                <a:latin typeface="Arial"/>
                <a:ea typeface="Arial"/>
                <a:cs typeface="Arial"/>
                <a:sym typeface="Arial"/>
              </a:rPr>
              <a:t>Python Script for Data Cleaning - </a:t>
            </a:r>
          </a:p>
          <a:p>
            <a:pPr algn="l">
              <a:lnSpc>
                <a:spcPts val="3888"/>
              </a:lnSpc>
            </a:pPr>
            <a:r>
              <a:rPr lang="en-US" sz="3600">
                <a:solidFill>
                  <a:srgbClr val="000000"/>
                </a:solidFill>
                <a:latin typeface="Arial"/>
                <a:ea typeface="Arial"/>
                <a:cs typeface="Arial"/>
                <a:sym typeface="Arial"/>
              </a:rPr>
              <a:t>Cleaning Steps: </a:t>
            </a:r>
          </a:p>
          <a:p>
            <a:pPr algn="l" marL="777240" indent="-388620" lvl="1">
              <a:lnSpc>
                <a:spcPts val="3888"/>
              </a:lnSpc>
              <a:buAutoNum type="arabicPeriod" startAt="1"/>
            </a:pPr>
            <a:r>
              <a:rPr lang="en-US" sz="3600" u="sng">
                <a:solidFill>
                  <a:srgbClr val="000000"/>
                </a:solidFill>
                <a:latin typeface="Arial"/>
                <a:ea typeface="Arial"/>
                <a:cs typeface="Arial"/>
                <a:sym typeface="Arial"/>
              </a:rPr>
              <a:t>Load data </a:t>
            </a:r>
          </a:p>
          <a:p>
            <a:pPr algn="l">
              <a:lnSpc>
                <a:spcPts val="3888"/>
              </a:lnSpc>
            </a:pPr>
            <a:r>
              <a:rPr lang="en-US" sz="3600">
                <a:solidFill>
                  <a:srgbClr val="000000"/>
                </a:solidFill>
                <a:latin typeface="Arial"/>
                <a:ea typeface="Arial"/>
                <a:cs typeface="Arial"/>
                <a:sym typeface="Arial"/>
              </a:rPr>
              <a:t>      </a:t>
            </a:r>
            <a:r>
              <a:rPr lang="en-US" sz="3600">
                <a:solidFill>
                  <a:srgbClr val="000000"/>
                </a:solidFill>
                <a:latin typeface="Arial"/>
                <a:ea typeface="Arial"/>
                <a:cs typeface="Arial"/>
                <a:sym typeface="Arial"/>
              </a:rPr>
              <a:t>import pandas as pd df = pd.read_csv('datasets/train.csv') </a:t>
            </a:r>
          </a:p>
          <a:p>
            <a:pPr algn="l" marL="777240" indent="-388620" lvl="1">
              <a:lnSpc>
                <a:spcPts val="3888"/>
              </a:lnSpc>
              <a:buAutoNum type="arabicPeriod" startAt="1"/>
            </a:pPr>
            <a:r>
              <a:rPr lang="en-US" sz="3600" u="sng">
                <a:solidFill>
                  <a:srgbClr val="000000"/>
                </a:solidFill>
                <a:latin typeface="Arial"/>
                <a:ea typeface="Arial"/>
                <a:cs typeface="Arial"/>
                <a:sym typeface="Arial"/>
              </a:rPr>
              <a:t>Extract hashtags </a:t>
            </a:r>
          </a:p>
          <a:p>
            <a:pPr algn="l">
              <a:lnSpc>
                <a:spcPts val="3888"/>
              </a:lnSpc>
            </a:pPr>
            <a:r>
              <a:rPr lang="en-US" sz="3600">
                <a:solidFill>
                  <a:srgbClr val="000000"/>
                </a:solidFill>
                <a:latin typeface="Arial"/>
                <a:ea typeface="Arial"/>
                <a:cs typeface="Arial"/>
                <a:sym typeface="Arial"/>
              </a:rPr>
              <a:t>      </a:t>
            </a:r>
            <a:r>
              <a:rPr lang="en-US" sz="3600">
                <a:solidFill>
                  <a:srgbClr val="000000"/>
                </a:solidFill>
                <a:latin typeface="Arial"/>
                <a:ea typeface="Arial"/>
                <a:cs typeface="Arial"/>
                <a:sym typeface="Arial"/>
              </a:rPr>
              <a:t>import re def extract_hashtags(text):  </a:t>
            </a:r>
          </a:p>
          <a:p>
            <a:pPr algn="l">
              <a:lnSpc>
                <a:spcPts val="3888"/>
              </a:lnSpc>
            </a:pPr>
            <a:r>
              <a:rPr lang="en-US" sz="3600">
                <a:solidFill>
                  <a:srgbClr val="000000"/>
                </a:solidFill>
                <a:latin typeface="Arial"/>
                <a:ea typeface="Arial"/>
                <a:cs typeface="Arial"/>
                <a:sym typeface="Arial"/>
              </a:rPr>
              <a:t>      if pd.isna(text): return []</a:t>
            </a:r>
          </a:p>
          <a:p>
            <a:pPr algn="l">
              <a:lnSpc>
                <a:spcPts val="3888"/>
              </a:lnSpc>
            </a:pPr>
            <a:r>
              <a:rPr lang="en-US" sz="3600">
                <a:solidFill>
                  <a:srgbClr val="000000"/>
                </a:solidFill>
                <a:latin typeface="Arial"/>
                <a:ea typeface="Arial"/>
                <a:cs typeface="Arial"/>
                <a:sym typeface="Arial"/>
              </a:rPr>
              <a:t>      return [tag.lower() for tag in re.findall(r'#\str(text))]  </a:t>
            </a:r>
          </a:p>
          <a:p>
            <a:pPr algn="l">
              <a:lnSpc>
                <a:spcPts val="3888"/>
              </a:lnSpc>
            </a:pPr>
            <a:r>
              <a:rPr lang="en-US" sz="3600">
                <a:solidFill>
                  <a:srgbClr val="000000"/>
                </a:solidFill>
                <a:latin typeface="Arial"/>
                <a:ea typeface="Arial"/>
                <a:cs typeface="Arial"/>
                <a:sym typeface="Arial"/>
              </a:rPr>
              <a:t>      df['hashtags'] =df['text'].apply(extract_hashtags) </a:t>
            </a:r>
          </a:p>
          <a:p>
            <a:pPr algn="l">
              <a:lnSpc>
                <a:spcPts val="3888"/>
              </a:lnSpc>
            </a:pPr>
            <a:r>
              <a:rPr lang="en-US" sz="3600">
                <a:solidFill>
                  <a:srgbClr val="000000"/>
                </a:solidFill>
                <a:latin typeface="Arial"/>
                <a:ea typeface="Arial"/>
                <a:cs typeface="Arial"/>
                <a:sym typeface="Arial"/>
              </a:rPr>
              <a:t>  3.</a:t>
            </a:r>
            <a:r>
              <a:rPr lang="en-US" sz="3600" u="sng">
                <a:solidFill>
                  <a:srgbClr val="000000"/>
                </a:solidFill>
                <a:latin typeface="Arial"/>
                <a:ea typeface="Arial"/>
                <a:cs typeface="Arial"/>
                <a:sym typeface="Arial"/>
              </a:rPr>
              <a:t>Remove duplicates </a:t>
            </a:r>
          </a:p>
          <a:p>
            <a:pPr algn="l">
              <a:lnSpc>
                <a:spcPts val="3888"/>
              </a:lnSpc>
            </a:pPr>
            <a:r>
              <a:rPr lang="en-US" sz="3600">
                <a:solidFill>
                  <a:srgbClr val="000000"/>
                </a:solidFill>
                <a:latin typeface="Arial"/>
                <a:ea typeface="Arial"/>
                <a:cs typeface="Arial"/>
                <a:sym typeface="Arial"/>
              </a:rPr>
              <a:t>    # Remove duplicate rows df = df.drop_duplicates(subset=['text']) </a:t>
            </a:r>
          </a:p>
          <a:p>
            <a:pPr algn="l">
              <a:lnSpc>
                <a:spcPts val="3888"/>
              </a:lnSpc>
            </a:pPr>
            <a:r>
              <a:rPr lang="en-US" sz="3600">
                <a:solidFill>
                  <a:srgbClr val="000000"/>
                </a:solidFill>
                <a:latin typeface="Arial"/>
                <a:ea typeface="Arial"/>
                <a:cs typeface="Arial"/>
                <a:sym typeface="Arial"/>
              </a:rPr>
              <a:t>    # Later, remove duplicate edges edge_df = edge_df.drop_duplicates(subset=           ['Source', 'Target'])</a:t>
            </a:r>
          </a:p>
          <a:p>
            <a:pPr algn="l">
              <a:lnSpc>
                <a:spcPts val="3888"/>
              </a:lnSpc>
            </a:pPr>
          </a:p>
        </p:txBody>
      </p:sp>
      <p:grpSp>
        <p:nvGrpSpPr>
          <p:cNvPr name="Group 6" id="6"/>
          <p:cNvGrpSpPr/>
          <p:nvPr/>
        </p:nvGrpSpPr>
        <p:grpSpPr>
          <a:xfrm rot="0">
            <a:off x="1028700" y="34528"/>
            <a:ext cx="15773400" cy="1988344"/>
            <a:chOff x="0" y="0"/>
            <a:chExt cx="21031200" cy="2651125"/>
          </a:xfrm>
        </p:grpSpPr>
        <p:sp>
          <p:nvSpPr>
            <p:cNvPr name="Freeform 7" id="7"/>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8" id="8"/>
            <p:cNvSpPr txBox="true"/>
            <p:nvPr/>
          </p:nvSpPr>
          <p:spPr>
            <a:xfrm>
              <a:off x="0" y="57150"/>
              <a:ext cx="21031200" cy="2593975"/>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Data Cleaning &amp; Pre-processing</a:t>
              </a:r>
            </a:p>
          </p:txBody>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286394"/>
            <a:ext cx="15773400" cy="1988344"/>
            <a:chOff x="0" y="0"/>
            <a:chExt cx="21031200" cy="2651125"/>
          </a:xfrm>
        </p:grpSpPr>
        <p:sp>
          <p:nvSpPr>
            <p:cNvPr name="Freeform 3" id="3"/>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4" id="4"/>
            <p:cNvSpPr txBox="true"/>
            <p:nvPr/>
          </p:nvSpPr>
          <p:spPr>
            <a:xfrm>
              <a:off x="0" y="57150"/>
              <a:ext cx="21031200" cy="2593975"/>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Data Cleaning &amp; Pre-processing</a:t>
              </a:r>
            </a:p>
          </p:txBody>
        </p:sp>
      </p:grpSp>
      <p:sp>
        <p:nvSpPr>
          <p:cNvPr name="TextBox 5" id="5"/>
          <p:cNvSpPr txBox="true"/>
          <p:nvPr/>
        </p:nvSpPr>
        <p:spPr>
          <a:xfrm rot="0">
            <a:off x="634697" y="1254715"/>
            <a:ext cx="15849658" cy="8796566"/>
          </a:xfrm>
          <a:prstGeom prst="rect">
            <a:avLst/>
          </a:prstGeom>
        </p:spPr>
        <p:txBody>
          <a:bodyPr anchor="t" rtlCol="false" tIns="0" lIns="0" bIns="0" rIns="0">
            <a:spAutoFit/>
          </a:bodyPr>
          <a:lstStyle/>
          <a:p>
            <a:pPr algn="l" marL="610449" indent="-305225" lvl="1">
              <a:lnSpc>
                <a:spcPts val="3053"/>
              </a:lnSpc>
              <a:buAutoNum type="arabicPeriod" startAt="1"/>
            </a:pPr>
            <a:r>
              <a:rPr lang="en-US" sz="2827" u="sng">
                <a:solidFill>
                  <a:srgbClr val="000000"/>
                </a:solidFill>
                <a:latin typeface="Arial"/>
                <a:ea typeface="Arial"/>
                <a:cs typeface="Arial"/>
                <a:sym typeface="Arial"/>
              </a:rPr>
              <a:t>Normalize node labels</a:t>
            </a:r>
          </a:p>
          <a:p>
            <a:pPr algn="l">
              <a:lnSpc>
                <a:spcPts val="3053"/>
              </a:lnSpc>
            </a:pPr>
            <a:r>
              <a:rPr lang="en-US" sz="2827">
                <a:solidFill>
                  <a:srgbClr val="000000"/>
                </a:solidFill>
                <a:latin typeface="Arial"/>
                <a:ea typeface="Arial"/>
                <a:cs typeface="Arial"/>
                <a:sym typeface="Arial"/>
              </a:rPr>
              <a:t>      </a:t>
            </a:r>
            <a:r>
              <a:rPr lang="en-US" sz="2827">
                <a:solidFill>
                  <a:srgbClr val="000000"/>
                </a:solidFill>
                <a:latin typeface="Arial"/>
                <a:ea typeface="Arial"/>
                <a:cs typeface="Arial"/>
                <a:sym typeface="Arial"/>
              </a:rPr>
              <a:t># Hashtags already lowercase in extraction step  </a:t>
            </a:r>
          </a:p>
          <a:p>
            <a:pPr algn="l">
              <a:lnSpc>
                <a:spcPts val="3053"/>
              </a:lnSpc>
            </a:pPr>
            <a:r>
              <a:rPr lang="en-US" sz="2827">
                <a:solidFill>
                  <a:srgbClr val="000000"/>
                </a:solidFill>
                <a:latin typeface="Arial"/>
                <a:ea typeface="Arial"/>
                <a:cs typeface="Arial"/>
                <a:sym typeface="Arial"/>
              </a:rPr>
              <a:t>      # Remove special characters </a:t>
            </a:r>
          </a:p>
          <a:p>
            <a:pPr algn="l">
              <a:lnSpc>
                <a:spcPts val="3053"/>
              </a:lnSpc>
            </a:pPr>
            <a:r>
              <a:rPr lang="en-US" sz="2827">
                <a:solidFill>
                  <a:srgbClr val="000000"/>
                </a:solidFill>
                <a:latin typeface="Arial"/>
                <a:ea typeface="Arial"/>
                <a:cs typeface="Arial"/>
                <a:sym typeface="Arial"/>
              </a:rPr>
              <a:t>         if needed def clean_hashtag(tag): return re.sub(r'[^a-z0-9]', '', tag)</a:t>
            </a:r>
          </a:p>
          <a:p>
            <a:pPr algn="l">
              <a:lnSpc>
                <a:spcPts val="3053"/>
              </a:lnSpc>
            </a:pPr>
            <a:r>
              <a:rPr lang="en-US" sz="2827">
                <a:solidFill>
                  <a:srgbClr val="000000"/>
                </a:solidFill>
                <a:latin typeface="Arial"/>
                <a:ea typeface="Arial"/>
                <a:cs typeface="Arial"/>
                <a:sym typeface="Arial"/>
              </a:rPr>
              <a:t> </a:t>
            </a:r>
          </a:p>
          <a:p>
            <a:pPr algn="l" marL="610449" indent="-305225" lvl="1">
              <a:lnSpc>
                <a:spcPts val="3053"/>
              </a:lnSpc>
              <a:buAutoNum type="arabicPeriod" startAt="1"/>
            </a:pPr>
            <a:r>
              <a:rPr lang="en-US" sz="2827" u="sng">
                <a:solidFill>
                  <a:srgbClr val="000000"/>
                </a:solidFill>
                <a:latin typeface="Arial"/>
                <a:ea typeface="Arial"/>
                <a:cs typeface="Arial"/>
                <a:sym typeface="Arial"/>
              </a:rPr>
              <a:t>Handle missing data</a:t>
            </a:r>
          </a:p>
          <a:p>
            <a:pPr algn="l">
              <a:lnSpc>
                <a:spcPts val="3053"/>
              </a:lnSpc>
            </a:pPr>
            <a:r>
              <a:rPr lang="en-US" sz="2827">
                <a:solidFill>
                  <a:srgbClr val="000000"/>
                </a:solidFill>
                <a:latin typeface="Arial"/>
                <a:ea typeface="Arial"/>
                <a:cs typeface="Arial"/>
                <a:sym typeface="Arial"/>
              </a:rPr>
              <a:t>      </a:t>
            </a:r>
            <a:r>
              <a:rPr lang="en-US" sz="2827">
                <a:solidFill>
                  <a:srgbClr val="000000"/>
                </a:solidFill>
                <a:latin typeface="Arial"/>
                <a:ea typeface="Arial"/>
                <a:cs typeface="Arial"/>
                <a:sym typeface="Arial"/>
              </a:rPr>
              <a:t># Remove tweets with no hashtags </a:t>
            </a:r>
          </a:p>
          <a:p>
            <a:pPr algn="l">
              <a:lnSpc>
                <a:spcPts val="3053"/>
              </a:lnSpc>
            </a:pPr>
            <a:r>
              <a:rPr lang="en-US" sz="2827">
                <a:solidFill>
                  <a:srgbClr val="000000"/>
                </a:solidFill>
                <a:latin typeface="Arial"/>
                <a:ea typeface="Arial"/>
                <a:cs typeface="Arial"/>
                <a:sym typeface="Arial"/>
              </a:rPr>
              <a:t>         df = df[df['hashtags'].apply(len) &gt; 0] </a:t>
            </a:r>
          </a:p>
          <a:p>
            <a:pPr algn="l">
              <a:lnSpc>
                <a:spcPts val="3053"/>
              </a:lnSpc>
            </a:pPr>
          </a:p>
          <a:p>
            <a:pPr algn="l" marL="610449" indent="-305225" lvl="1">
              <a:lnSpc>
                <a:spcPts val="3053"/>
              </a:lnSpc>
              <a:buAutoNum type="arabicPeriod" startAt="1"/>
            </a:pPr>
            <a:r>
              <a:rPr lang="en-US" sz="2827" u="sng">
                <a:solidFill>
                  <a:srgbClr val="000000"/>
                </a:solidFill>
                <a:latin typeface="Arial"/>
                <a:ea typeface="Arial"/>
                <a:cs typeface="Arial"/>
                <a:sym typeface="Arial"/>
              </a:rPr>
              <a:t>Create edge list </a:t>
            </a:r>
          </a:p>
          <a:p>
            <a:pPr algn="l">
              <a:lnSpc>
                <a:spcPts val="3053"/>
              </a:lnSpc>
            </a:pPr>
            <a:r>
              <a:rPr lang="en-US" sz="2827">
                <a:solidFill>
                  <a:srgbClr val="000000"/>
                </a:solidFill>
                <a:latin typeface="Arial"/>
                <a:ea typeface="Arial"/>
                <a:cs typeface="Arial"/>
                <a:sym typeface="Arial"/>
              </a:rPr>
              <a:t>      </a:t>
            </a:r>
            <a:r>
              <a:rPr lang="en-US" sz="2827">
                <a:solidFill>
                  <a:srgbClr val="000000"/>
                </a:solidFill>
                <a:latin typeface="Arial"/>
                <a:ea typeface="Arial"/>
                <a:cs typeface="Arial"/>
                <a:sym typeface="Arial"/>
              </a:rPr>
              <a:t># See full script in create_gephi_network.py provided earlier  </a:t>
            </a:r>
          </a:p>
          <a:p>
            <a:pPr algn="l">
              <a:lnSpc>
                <a:spcPts val="3053"/>
              </a:lnSpc>
            </a:pPr>
            <a:r>
              <a:rPr lang="en-US" sz="2827">
                <a:solidFill>
                  <a:srgbClr val="000000"/>
                </a:solidFill>
                <a:latin typeface="Arial"/>
                <a:ea typeface="Arial"/>
                <a:cs typeface="Arial"/>
                <a:sym typeface="Arial"/>
              </a:rPr>
              <a:t>      # Creates edges.csv and nodes.csv </a:t>
            </a:r>
          </a:p>
          <a:p>
            <a:pPr algn="l">
              <a:lnSpc>
                <a:spcPts val="3053"/>
              </a:lnSpc>
            </a:pPr>
          </a:p>
          <a:p>
            <a:pPr algn="l" marL="610449" indent="-305225" lvl="1">
              <a:lnSpc>
                <a:spcPts val="3053"/>
              </a:lnSpc>
              <a:buAutoNum type="arabicPeriod" startAt="1"/>
            </a:pPr>
            <a:r>
              <a:rPr lang="en-US" sz="2827" u="sng">
                <a:solidFill>
                  <a:srgbClr val="000000"/>
                </a:solidFill>
                <a:latin typeface="Arial"/>
                <a:ea typeface="Arial"/>
                <a:cs typeface="Arial"/>
                <a:sym typeface="Arial"/>
              </a:rPr>
              <a:t>Resulting Data Files -  </a:t>
            </a:r>
          </a:p>
          <a:p>
            <a:pPr algn="l">
              <a:lnSpc>
                <a:spcPts val="3053"/>
              </a:lnSpc>
            </a:pPr>
            <a:r>
              <a:rPr lang="en-US" sz="2827" b="true">
                <a:solidFill>
                  <a:srgbClr val="000000"/>
                </a:solidFill>
                <a:latin typeface="Arial Bold"/>
                <a:ea typeface="Arial Bold"/>
                <a:cs typeface="Arial Bold"/>
                <a:sym typeface="Arial Bold"/>
              </a:rPr>
              <a:t>      </a:t>
            </a:r>
            <a:r>
              <a:rPr lang="en-US" sz="2827" b="true">
                <a:solidFill>
                  <a:srgbClr val="000000"/>
                </a:solidFill>
                <a:latin typeface="Arial Bold"/>
                <a:ea typeface="Arial Bold"/>
                <a:cs typeface="Arial Bold"/>
                <a:sym typeface="Arial Bold"/>
              </a:rPr>
              <a:t>edges.csv format: </a:t>
            </a:r>
          </a:p>
          <a:p>
            <a:pPr algn="l">
              <a:lnSpc>
                <a:spcPts val="3053"/>
              </a:lnSpc>
            </a:pPr>
            <a:r>
              <a:rPr lang="en-US" sz="2827">
                <a:solidFill>
                  <a:srgbClr val="000000"/>
                </a:solidFill>
                <a:latin typeface="Arial"/>
                <a:ea typeface="Arial"/>
                <a:cs typeface="Arial"/>
                <a:sym typeface="Arial"/>
              </a:rPr>
              <a:t>      Source, Target,           Type,     Weight,  disaster_count, disaster_ratio </a:t>
            </a:r>
          </a:p>
          <a:p>
            <a:pPr algn="l">
              <a:lnSpc>
                <a:spcPts val="3053"/>
              </a:lnSpc>
            </a:pPr>
            <a:r>
              <a:rPr lang="en-US" sz="2827">
                <a:solidFill>
                  <a:srgbClr val="000000"/>
                </a:solidFill>
                <a:latin typeface="Arial"/>
                <a:ea typeface="Arial"/>
                <a:cs typeface="Arial"/>
                <a:sym typeface="Arial"/>
              </a:rPr>
              <a:t>      </a:t>
            </a:r>
            <a:r>
              <a:rPr lang="en-US" sz="2827">
                <a:solidFill>
                  <a:srgbClr val="000000"/>
                </a:solidFill>
                <a:latin typeface="Arial"/>
                <a:ea typeface="Arial"/>
                <a:cs typeface="Arial"/>
                <a:sym typeface="Arial"/>
              </a:rPr>
              <a:t>#fire,    #emergency,   Undirected,  45,       32,                    0.71</a:t>
            </a:r>
          </a:p>
          <a:p>
            <a:pPr algn="l">
              <a:lnSpc>
                <a:spcPts val="3053"/>
              </a:lnSpc>
            </a:pPr>
            <a:r>
              <a:rPr lang="en-US" sz="2827">
                <a:solidFill>
                  <a:srgbClr val="000000"/>
                </a:solidFill>
                <a:latin typeface="Arial"/>
                <a:ea typeface="Arial"/>
                <a:cs typeface="Arial"/>
                <a:sym typeface="Arial"/>
              </a:rPr>
              <a:t>      #flood,   #houston,       Undirected,  28,       28,                    1.0 </a:t>
            </a:r>
          </a:p>
          <a:p>
            <a:pPr algn="l">
              <a:lnSpc>
                <a:spcPts val="3053"/>
              </a:lnSpc>
            </a:pPr>
            <a:r>
              <a:rPr lang="en-US" sz="2827" b="true">
                <a:solidFill>
                  <a:srgbClr val="000000"/>
                </a:solidFill>
                <a:latin typeface="Arial Bold"/>
                <a:ea typeface="Arial Bold"/>
                <a:cs typeface="Arial Bold"/>
                <a:sym typeface="Arial Bold"/>
              </a:rPr>
              <a:t>     nodes.csv format:</a:t>
            </a:r>
          </a:p>
          <a:p>
            <a:pPr algn="l">
              <a:lnSpc>
                <a:spcPts val="3053"/>
              </a:lnSpc>
            </a:pPr>
            <a:r>
              <a:rPr lang="en-US" sz="2827">
                <a:solidFill>
                  <a:srgbClr val="000000"/>
                </a:solidFill>
                <a:latin typeface="Arial"/>
                <a:ea typeface="Arial"/>
                <a:cs typeface="Arial"/>
                <a:sym typeface="Arial"/>
              </a:rPr>
              <a:t>         Id,                Label,       Frequency,       disaster_count,  non_disaster_count,   disaster_ratio </a:t>
            </a:r>
          </a:p>
          <a:p>
            <a:pPr algn="l">
              <a:lnSpc>
                <a:spcPts val="3053"/>
              </a:lnSpc>
            </a:pPr>
            <a:r>
              <a:rPr lang="en-US" sz="2827">
                <a:solidFill>
                  <a:srgbClr val="000000"/>
                </a:solidFill>
                <a:latin typeface="Arial"/>
                <a:ea typeface="Arial"/>
                <a:cs typeface="Arial"/>
                <a:sym typeface="Arial"/>
              </a:rPr>
              <a:t>     #emergency,#emergency,    234,                178,                           56,                             0.76 </a:t>
            </a:r>
          </a:p>
          <a:p>
            <a:pPr algn="l">
              <a:lnSpc>
                <a:spcPts val="3053"/>
              </a:lnSpc>
            </a:pPr>
            <a:r>
              <a:rPr lang="en-US" sz="2827">
                <a:solidFill>
                  <a:srgbClr val="000000"/>
                </a:solidFill>
                <a:latin typeface="Arial"/>
                <a:ea typeface="Arial"/>
                <a:cs typeface="Arial"/>
                <a:sym typeface="Arial"/>
              </a:rPr>
              <a:t>     #fire,             #fire,                 156,                134,                           22,                             0.86</a:t>
            </a:r>
          </a:p>
          <a:p>
            <a:pPr algn="l">
              <a:lnSpc>
                <a:spcPts val="3053"/>
              </a:lnSpc>
            </a:pPr>
            <a:r>
              <a:rPr lang="en-US" sz="2827">
                <a:solidFill>
                  <a:srgbClr val="000000"/>
                </a:solidFill>
                <a:latin typeface="Arial"/>
                <a:ea typeface="Arial"/>
                <a:cs typeface="Arial"/>
                <a:sym typeface="Arial"/>
              </a:rPr>
              <a:t>                       </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156134"/>
            <a:ext cx="15773400" cy="1988400"/>
            <a:chOff x="0" y="0"/>
            <a:chExt cx="21031200" cy="2651200"/>
          </a:xfrm>
        </p:grpSpPr>
        <p:sp>
          <p:nvSpPr>
            <p:cNvPr name="Freeform 3" id="3"/>
            <p:cNvSpPr/>
            <p:nvPr/>
          </p:nvSpPr>
          <p:spPr>
            <a:xfrm flipH="false" flipV="false" rot="0">
              <a:off x="0" y="0"/>
              <a:ext cx="21031200" cy="2651200"/>
            </a:xfrm>
            <a:custGeom>
              <a:avLst/>
              <a:gdLst/>
              <a:ahLst/>
              <a:cxnLst/>
              <a:rect r="r" b="b" t="t" l="l"/>
              <a:pathLst>
                <a:path h="2651200" w="21031200">
                  <a:moveTo>
                    <a:pt x="0" y="0"/>
                  </a:moveTo>
                  <a:lnTo>
                    <a:pt x="21031200" y="0"/>
                  </a:lnTo>
                  <a:lnTo>
                    <a:pt x="21031200" y="2651200"/>
                  </a:lnTo>
                  <a:lnTo>
                    <a:pt x="0" y="2651200"/>
                  </a:lnTo>
                  <a:close/>
                </a:path>
              </a:pathLst>
            </a:custGeom>
            <a:solidFill>
              <a:srgbClr val="000000">
                <a:alpha val="0"/>
              </a:srgbClr>
            </a:solidFill>
          </p:spPr>
        </p:sp>
        <p:sp>
          <p:nvSpPr>
            <p:cNvPr name="TextBox 4" id="4"/>
            <p:cNvSpPr txBox="true"/>
            <p:nvPr/>
          </p:nvSpPr>
          <p:spPr>
            <a:xfrm>
              <a:off x="0" y="57150"/>
              <a:ext cx="21031200" cy="2594050"/>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Network Construction &amp; Visualization</a:t>
              </a:r>
            </a:p>
          </p:txBody>
        </p:sp>
      </p:grpSp>
      <p:sp>
        <p:nvSpPr>
          <p:cNvPr name="TextBox 5" id="5"/>
          <p:cNvSpPr txBox="true"/>
          <p:nvPr/>
        </p:nvSpPr>
        <p:spPr>
          <a:xfrm rot="0">
            <a:off x="1028700" y="1689757"/>
            <a:ext cx="18930064" cy="8139563"/>
          </a:xfrm>
          <a:prstGeom prst="rect">
            <a:avLst/>
          </a:prstGeom>
        </p:spPr>
        <p:txBody>
          <a:bodyPr anchor="t" rtlCol="false" tIns="0" lIns="0" bIns="0" rIns="0">
            <a:spAutoFit/>
          </a:bodyPr>
          <a:lstStyle/>
          <a:p>
            <a:pPr algn="l">
              <a:lnSpc>
                <a:spcPts val="3597"/>
              </a:lnSpc>
            </a:pPr>
            <a:r>
              <a:rPr lang="en-US" sz="3155">
                <a:solidFill>
                  <a:srgbClr val="000000"/>
                </a:solidFill>
                <a:latin typeface="Arial"/>
                <a:ea typeface="Arial"/>
                <a:cs typeface="Arial"/>
                <a:sym typeface="Arial"/>
              </a:rPr>
              <a:t>We constructed a h</a:t>
            </a:r>
            <a:r>
              <a:rPr lang="en-US" sz="3155">
                <a:solidFill>
                  <a:srgbClr val="000000"/>
                </a:solidFill>
                <a:latin typeface="Arial"/>
                <a:ea typeface="Arial"/>
                <a:cs typeface="Arial"/>
                <a:sym typeface="Arial"/>
              </a:rPr>
              <a:t>a</a:t>
            </a:r>
            <a:r>
              <a:rPr lang="en-US" sz="3155">
                <a:solidFill>
                  <a:srgbClr val="000000"/>
                </a:solidFill>
                <a:latin typeface="Arial"/>
                <a:ea typeface="Arial"/>
                <a:cs typeface="Arial"/>
                <a:sym typeface="Arial"/>
              </a:rPr>
              <a:t>sh</a:t>
            </a:r>
            <a:r>
              <a:rPr lang="en-US" sz="3155">
                <a:solidFill>
                  <a:srgbClr val="000000"/>
                </a:solidFill>
                <a:latin typeface="Arial"/>
                <a:ea typeface="Arial"/>
                <a:cs typeface="Arial"/>
                <a:sym typeface="Arial"/>
              </a:rPr>
              <a:t>t</a:t>
            </a:r>
            <a:r>
              <a:rPr lang="en-US" sz="3155">
                <a:solidFill>
                  <a:srgbClr val="000000"/>
                </a:solidFill>
                <a:latin typeface="Arial"/>
                <a:ea typeface="Arial"/>
                <a:cs typeface="Arial"/>
                <a:sym typeface="Arial"/>
              </a:rPr>
              <a:t>ag co-occurrenc</a:t>
            </a:r>
            <a:r>
              <a:rPr lang="en-US" sz="3155">
                <a:solidFill>
                  <a:srgbClr val="000000"/>
                </a:solidFill>
                <a:latin typeface="Arial"/>
                <a:ea typeface="Arial"/>
                <a:cs typeface="Arial"/>
                <a:sym typeface="Arial"/>
              </a:rPr>
              <a:t>e network</a:t>
            </a:r>
            <a:r>
              <a:rPr lang="en-US" sz="3155">
                <a:solidFill>
                  <a:srgbClr val="000000"/>
                </a:solidFill>
                <a:latin typeface="Arial"/>
                <a:ea typeface="Arial"/>
                <a:cs typeface="Arial"/>
                <a:sym typeface="Arial"/>
              </a:rPr>
              <a:t> using all tweets in the dataset.</a:t>
            </a:r>
          </a:p>
          <a:p>
            <a:pPr algn="l">
              <a:lnSpc>
                <a:spcPts val="3597"/>
              </a:lnSpc>
            </a:pPr>
            <a:r>
              <a:rPr lang="en-US" sz="3155">
                <a:solidFill>
                  <a:srgbClr val="000000"/>
                </a:solidFill>
                <a:latin typeface="Arial"/>
                <a:ea typeface="Arial"/>
                <a:cs typeface="Arial"/>
                <a:sym typeface="Arial"/>
              </a:rPr>
              <a:t>How the Network Was Formed</a:t>
            </a:r>
          </a:p>
          <a:p>
            <a:pPr algn="l" marL="1076344" indent="-538172" lvl="1">
              <a:lnSpc>
                <a:spcPts val="3597"/>
              </a:lnSpc>
              <a:buFont typeface="Arial"/>
              <a:buChar char="•"/>
            </a:pPr>
            <a:r>
              <a:rPr lang="en-US" sz="3155">
                <a:solidFill>
                  <a:srgbClr val="000000"/>
                </a:solidFill>
                <a:latin typeface="Arial"/>
                <a:ea typeface="Arial"/>
                <a:cs typeface="Arial"/>
                <a:sym typeface="Arial"/>
              </a:rPr>
              <a:t>Nodes represent</a:t>
            </a:r>
            <a:r>
              <a:rPr lang="en-US" sz="3155">
                <a:solidFill>
                  <a:srgbClr val="000000"/>
                </a:solidFill>
                <a:latin typeface="Arial"/>
                <a:ea typeface="Arial"/>
                <a:cs typeface="Arial"/>
                <a:sym typeface="Arial"/>
              </a:rPr>
              <a:t> </a:t>
            </a:r>
            <a:r>
              <a:rPr lang="en-US" sz="3155">
                <a:solidFill>
                  <a:srgbClr val="000000"/>
                </a:solidFill>
                <a:latin typeface="Arial"/>
                <a:ea typeface="Arial"/>
                <a:cs typeface="Arial"/>
                <a:sym typeface="Arial"/>
              </a:rPr>
              <a:t>un</a:t>
            </a:r>
            <a:r>
              <a:rPr lang="en-US" sz="3155">
                <a:solidFill>
                  <a:srgbClr val="000000"/>
                </a:solidFill>
                <a:latin typeface="Arial"/>
                <a:ea typeface="Arial"/>
                <a:cs typeface="Arial"/>
                <a:sym typeface="Arial"/>
              </a:rPr>
              <a:t>i</a:t>
            </a:r>
            <a:r>
              <a:rPr lang="en-US" sz="3155">
                <a:solidFill>
                  <a:srgbClr val="000000"/>
                </a:solidFill>
                <a:latin typeface="Arial"/>
                <a:ea typeface="Arial"/>
                <a:cs typeface="Arial"/>
                <a:sym typeface="Arial"/>
              </a:rPr>
              <a:t>qu</a:t>
            </a:r>
            <a:r>
              <a:rPr lang="en-US" sz="3155">
                <a:solidFill>
                  <a:srgbClr val="000000"/>
                </a:solidFill>
                <a:latin typeface="Arial"/>
                <a:ea typeface="Arial"/>
                <a:cs typeface="Arial"/>
                <a:sym typeface="Arial"/>
              </a:rPr>
              <a:t>e</a:t>
            </a:r>
            <a:r>
              <a:rPr lang="en-US" sz="3155">
                <a:solidFill>
                  <a:srgbClr val="000000"/>
                </a:solidFill>
                <a:latin typeface="Arial"/>
                <a:ea typeface="Arial"/>
                <a:cs typeface="Arial"/>
                <a:sym typeface="Arial"/>
              </a:rPr>
              <a:t> hashtag</a:t>
            </a:r>
            <a:r>
              <a:rPr lang="en-US" sz="3155">
                <a:solidFill>
                  <a:srgbClr val="000000"/>
                </a:solidFill>
                <a:latin typeface="Arial"/>
                <a:ea typeface="Arial"/>
                <a:cs typeface="Arial"/>
                <a:sym typeface="Arial"/>
              </a:rPr>
              <a:t>s</a:t>
            </a:r>
            <a:r>
              <a:rPr lang="en-US" sz="3155">
                <a:solidFill>
                  <a:srgbClr val="000000"/>
                </a:solidFill>
                <a:latin typeface="Arial"/>
                <a:ea typeface="Arial"/>
                <a:cs typeface="Arial"/>
                <a:sym typeface="Arial"/>
              </a:rPr>
              <a:t>.</a:t>
            </a:r>
          </a:p>
          <a:p>
            <a:pPr algn="l" marL="1076056" indent="-538028" lvl="1">
              <a:lnSpc>
                <a:spcPts val="3597"/>
              </a:lnSpc>
              <a:buFont typeface="Arial"/>
              <a:buChar char="•"/>
            </a:pPr>
            <a:r>
              <a:rPr lang="en-US" sz="3155">
                <a:solidFill>
                  <a:srgbClr val="000000"/>
                </a:solidFill>
                <a:latin typeface="Arial"/>
                <a:ea typeface="Arial"/>
                <a:cs typeface="Arial"/>
                <a:sym typeface="Arial"/>
              </a:rPr>
              <a:t>E</a:t>
            </a:r>
            <a:r>
              <a:rPr lang="en-US" sz="3155">
                <a:solidFill>
                  <a:srgbClr val="000000"/>
                </a:solidFill>
                <a:latin typeface="Arial"/>
                <a:ea typeface="Arial"/>
                <a:cs typeface="Arial"/>
                <a:sym typeface="Arial"/>
              </a:rPr>
              <a:t>dges connect hashtags that app</a:t>
            </a:r>
            <a:r>
              <a:rPr lang="en-US" sz="3155">
                <a:solidFill>
                  <a:srgbClr val="000000"/>
                </a:solidFill>
                <a:latin typeface="Arial"/>
                <a:ea typeface="Arial"/>
                <a:cs typeface="Arial"/>
                <a:sym typeface="Arial"/>
              </a:rPr>
              <a:t>ear together in the </a:t>
            </a:r>
            <a:r>
              <a:rPr lang="en-US" sz="3155">
                <a:solidFill>
                  <a:srgbClr val="000000"/>
                </a:solidFill>
                <a:latin typeface="Arial"/>
                <a:ea typeface="Arial"/>
                <a:cs typeface="Arial"/>
                <a:sym typeface="Arial"/>
              </a:rPr>
              <a:t>s</a:t>
            </a:r>
            <a:r>
              <a:rPr lang="en-US" sz="3155">
                <a:solidFill>
                  <a:srgbClr val="000000"/>
                </a:solidFill>
                <a:latin typeface="Arial"/>
                <a:ea typeface="Arial"/>
                <a:cs typeface="Arial"/>
                <a:sym typeface="Arial"/>
              </a:rPr>
              <a:t>ame tweet.</a:t>
            </a:r>
          </a:p>
          <a:p>
            <a:pPr algn="l" marL="1076056" indent="-538028" lvl="1">
              <a:lnSpc>
                <a:spcPts val="3597"/>
              </a:lnSpc>
              <a:buFont typeface="Arial"/>
              <a:buChar char="•"/>
            </a:pPr>
            <a:r>
              <a:rPr lang="en-US" sz="3155">
                <a:solidFill>
                  <a:srgbClr val="000000"/>
                </a:solidFill>
                <a:latin typeface="Arial"/>
                <a:ea typeface="Arial"/>
                <a:cs typeface="Arial"/>
                <a:sym typeface="Arial"/>
              </a:rPr>
              <a:t>Edge We</a:t>
            </a:r>
            <a:r>
              <a:rPr lang="en-US" sz="3155">
                <a:solidFill>
                  <a:srgbClr val="000000"/>
                </a:solidFill>
                <a:latin typeface="Arial"/>
                <a:ea typeface="Arial"/>
                <a:cs typeface="Arial"/>
                <a:sym typeface="Arial"/>
              </a:rPr>
              <a:t>ig</a:t>
            </a:r>
            <a:r>
              <a:rPr lang="en-US" sz="3155">
                <a:solidFill>
                  <a:srgbClr val="000000"/>
                </a:solidFill>
                <a:latin typeface="Arial"/>
                <a:ea typeface="Arial"/>
                <a:cs typeface="Arial"/>
                <a:sym typeface="Arial"/>
              </a:rPr>
              <a:t>h</a:t>
            </a:r>
            <a:r>
              <a:rPr lang="en-US" sz="3155">
                <a:solidFill>
                  <a:srgbClr val="000000"/>
                </a:solidFill>
                <a:latin typeface="Arial"/>
                <a:ea typeface="Arial"/>
                <a:cs typeface="Arial"/>
                <a:sym typeface="Arial"/>
              </a:rPr>
              <a:t>t</a:t>
            </a:r>
            <a:r>
              <a:rPr lang="en-US" sz="3155">
                <a:solidFill>
                  <a:srgbClr val="000000"/>
                </a:solidFill>
                <a:latin typeface="Arial"/>
                <a:ea typeface="Arial"/>
                <a:cs typeface="Arial"/>
                <a:sym typeface="Arial"/>
              </a:rPr>
              <a:t> indicates how many times two hashtags co-occur across all tweets.</a:t>
            </a:r>
          </a:p>
          <a:p>
            <a:pPr algn="l">
              <a:lnSpc>
                <a:spcPts val="3597"/>
              </a:lnSpc>
            </a:pPr>
            <a:r>
              <a:rPr lang="en-US" sz="3155">
                <a:solidFill>
                  <a:srgbClr val="000000"/>
                </a:solidFill>
                <a:latin typeface="Arial"/>
                <a:ea typeface="Arial"/>
                <a:cs typeface="Arial"/>
                <a:sym typeface="Arial"/>
              </a:rPr>
              <a:t>Node Attributes Computed</a:t>
            </a:r>
          </a:p>
          <a:p>
            <a:pPr algn="l" marL="1076056" indent="-538028" lvl="1">
              <a:lnSpc>
                <a:spcPts val="3597"/>
              </a:lnSpc>
              <a:buFont typeface="Arial"/>
              <a:buChar char="•"/>
            </a:pPr>
            <a:r>
              <a:rPr lang="en-US" sz="3155">
                <a:solidFill>
                  <a:srgbClr val="000000"/>
                </a:solidFill>
                <a:latin typeface="Arial"/>
                <a:ea typeface="Arial"/>
                <a:cs typeface="Arial"/>
                <a:sym typeface="Arial"/>
              </a:rPr>
              <a:t>For every hashtag, we calculated:</a:t>
            </a:r>
          </a:p>
          <a:p>
            <a:pPr algn="l">
              <a:lnSpc>
                <a:spcPts val="3597"/>
              </a:lnSpc>
            </a:pPr>
            <a:r>
              <a:rPr lang="en-US" sz="3155">
                <a:solidFill>
                  <a:srgbClr val="000000"/>
                </a:solidFill>
                <a:latin typeface="Arial"/>
                <a:ea typeface="Arial"/>
                <a:cs typeface="Arial"/>
                <a:sym typeface="Arial"/>
              </a:rPr>
              <a:t>Frequency – how many tweets contain the hashtag</a:t>
            </a:r>
          </a:p>
          <a:p>
            <a:pPr algn="l" marL="1076057" indent="-538029" lvl="1">
              <a:lnSpc>
                <a:spcPts val="3597"/>
              </a:lnSpc>
              <a:buFont typeface="Arial"/>
              <a:buChar char="•"/>
            </a:pPr>
            <a:r>
              <a:rPr lang="en-US" sz="3155">
                <a:solidFill>
                  <a:srgbClr val="000000"/>
                </a:solidFill>
                <a:latin typeface="Arial"/>
                <a:ea typeface="Arial"/>
                <a:cs typeface="Arial"/>
                <a:sym typeface="Arial"/>
              </a:rPr>
              <a:t>D</a:t>
            </a:r>
            <a:r>
              <a:rPr lang="en-US" sz="3155">
                <a:solidFill>
                  <a:srgbClr val="000000"/>
                </a:solidFill>
                <a:latin typeface="Arial"/>
                <a:ea typeface="Arial"/>
                <a:cs typeface="Arial"/>
                <a:sym typeface="Arial"/>
              </a:rPr>
              <a:t>i</a:t>
            </a:r>
            <a:r>
              <a:rPr lang="en-US" sz="3155">
                <a:solidFill>
                  <a:srgbClr val="000000"/>
                </a:solidFill>
                <a:latin typeface="Arial"/>
                <a:ea typeface="Arial"/>
                <a:cs typeface="Arial"/>
                <a:sym typeface="Arial"/>
              </a:rPr>
              <a:t>sast</a:t>
            </a:r>
            <a:r>
              <a:rPr lang="en-US" sz="3155">
                <a:solidFill>
                  <a:srgbClr val="000000"/>
                </a:solidFill>
                <a:latin typeface="Arial"/>
                <a:ea typeface="Arial"/>
                <a:cs typeface="Arial"/>
                <a:sym typeface="Arial"/>
              </a:rPr>
              <a:t>er</a:t>
            </a:r>
            <a:r>
              <a:rPr lang="en-US" sz="3155">
                <a:solidFill>
                  <a:srgbClr val="000000"/>
                </a:solidFill>
                <a:latin typeface="Arial"/>
                <a:ea typeface="Arial"/>
                <a:cs typeface="Arial"/>
                <a:sym typeface="Arial"/>
              </a:rPr>
              <a:t> Count – number of times it appears in disaster-labelled tweets</a:t>
            </a:r>
          </a:p>
          <a:p>
            <a:pPr algn="l" marL="1076056" indent="-538028" lvl="1">
              <a:lnSpc>
                <a:spcPts val="3597"/>
              </a:lnSpc>
              <a:buFont typeface="Arial"/>
              <a:buChar char="•"/>
            </a:pPr>
            <a:r>
              <a:rPr lang="en-US" sz="3155">
                <a:solidFill>
                  <a:srgbClr val="000000"/>
                </a:solidFill>
                <a:latin typeface="Arial"/>
                <a:ea typeface="Arial"/>
                <a:cs typeface="Arial"/>
                <a:sym typeface="Arial"/>
              </a:rPr>
              <a:t>N</a:t>
            </a:r>
            <a:r>
              <a:rPr lang="en-US" sz="3155">
                <a:solidFill>
                  <a:srgbClr val="000000"/>
                </a:solidFill>
                <a:latin typeface="Arial"/>
                <a:ea typeface="Arial"/>
                <a:cs typeface="Arial"/>
                <a:sym typeface="Arial"/>
              </a:rPr>
              <a:t>on</a:t>
            </a:r>
            <a:r>
              <a:rPr lang="en-US" sz="3155">
                <a:solidFill>
                  <a:srgbClr val="000000"/>
                </a:solidFill>
                <a:latin typeface="Arial"/>
                <a:ea typeface="Arial"/>
                <a:cs typeface="Arial"/>
                <a:sym typeface="Arial"/>
              </a:rPr>
              <a:t>-d</a:t>
            </a:r>
            <a:r>
              <a:rPr lang="en-US" sz="3155">
                <a:solidFill>
                  <a:srgbClr val="000000"/>
                </a:solidFill>
                <a:latin typeface="Arial"/>
                <a:ea typeface="Arial"/>
                <a:cs typeface="Arial"/>
                <a:sym typeface="Arial"/>
              </a:rPr>
              <a:t>i</a:t>
            </a:r>
            <a:r>
              <a:rPr lang="en-US" sz="3155">
                <a:solidFill>
                  <a:srgbClr val="000000"/>
                </a:solidFill>
                <a:latin typeface="Arial"/>
                <a:ea typeface="Arial"/>
                <a:cs typeface="Arial"/>
                <a:sym typeface="Arial"/>
              </a:rPr>
              <a:t>sas</a:t>
            </a:r>
            <a:r>
              <a:rPr lang="en-US" sz="3155">
                <a:solidFill>
                  <a:srgbClr val="000000"/>
                </a:solidFill>
                <a:latin typeface="Arial"/>
                <a:ea typeface="Arial"/>
                <a:cs typeface="Arial"/>
                <a:sym typeface="Arial"/>
              </a:rPr>
              <a:t>te</a:t>
            </a:r>
            <a:r>
              <a:rPr lang="en-US" sz="3155">
                <a:solidFill>
                  <a:srgbClr val="000000"/>
                </a:solidFill>
                <a:latin typeface="Arial"/>
                <a:ea typeface="Arial"/>
                <a:cs typeface="Arial"/>
                <a:sym typeface="Arial"/>
              </a:rPr>
              <a:t>r C</a:t>
            </a:r>
            <a:r>
              <a:rPr lang="en-US" sz="3155">
                <a:solidFill>
                  <a:srgbClr val="000000"/>
                </a:solidFill>
                <a:latin typeface="Arial"/>
                <a:ea typeface="Arial"/>
                <a:cs typeface="Arial"/>
                <a:sym typeface="Arial"/>
              </a:rPr>
              <a:t>o</a:t>
            </a:r>
            <a:r>
              <a:rPr lang="en-US" sz="3155">
                <a:solidFill>
                  <a:srgbClr val="000000"/>
                </a:solidFill>
                <a:latin typeface="Arial"/>
                <a:ea typeface="Arial"/>
                <a:cs typeface="Arial"/>
                <a:sym typeface="Arial"/>
              </a:rPr>
              <a:t>u</a:t>
            </a:r>
            <a:r>
              <a:rPr lang="en-US" sz="3155">
                <a:solidFill>
                  <a:srgbClr val="000000"/>
                </a:solidFill>
                <a:latin typeface="Arial"/>
                <a:ea typeface="Arial"/>
                <a:cs typeface="Arial"/>
                <a:sym typeface="Arial"/>
              </a:rPr>
              <a:t>n</a:t>
            </a:r>
            <a:r>
              <a:rPr lang="en-US" sz="3155">
                <a:solidFill>
                  <a:srgbClr val="000000"/>
                </a:solidFill>
                <a:latin typeface="Arial"/>
                <a:ea typeface="Arial"/>
                <a:cs typeface="Arial"/>
                <a:sym typeface="Arial"/>
              </a:rPr>
              <a:t>t</a:t>
            </a:r>
            <a:r>
              <a:rPr lang="en-US" sz="3155">
                <a:solidFill>
                  <a:srgbClr val="000000"/>
                </a:solidFill>
                <a:latin typeface="Arial"/>
                <a:ea typeface="Arial"/>
                <a:cs typeface="Arial"/>
                <a:sym typeface="Arial"/>
              </a:rPr>
              <a:t> </a:t>
            </a:r>
            <a:r>
              <a:rPr lang="en-US" sz="3155">
                <a:solidFill>
                  <a:srgbClr val="000000"/>
                </a:solidFill>
                <a:latin typeface="Arial"/>
                <a:ea typeface="Arial"/>
                <a:cs typeface="Arial"/>
                <a:sym typeface="Arial"/>
              </a:rPr>
              <a:t>– numb</a:t>
            </a:r>
            <a:r>
              <a:rPr lang="en-US" sz="3155">
                <a:solidFill>
                  <a:srgbClr val="000000"/>
                </a:solidFill>
                <a:latin typeface="Arial"/>
                <a:ea typeface="Arial"/>
                <a:cs typeface="Arial"/>
                <a:sym typeface="Arial"/>
              </a:rPr>
              <a:t>er </a:t>
            </a:r>
            <a:r>
              <a:rPr lang="en-US" sz="3155">
                <a:solidFill>
                  <a:srgbClr val="000000"/>
                </a:solidFill>
                <a:latin typeface="Arial"/>
                <a:ea typeface="Arial"/>
                <a:cs typeface="Arial"/>
                <a:sym typeface="Arial"/>
              </a:rPr>
              <a:t>of times it appears in non-disaster tweets</a:t>
            </a:r>
          </a:p>
          <a:p>
            <a:pPr algn="l" marL="1076057" indent="-538029" lvl="1">
              <a:lnSpc>
                <a:spcPts val="3597"/>
              </a:lnSpc>
              <a:buFont typeface="Arial"/>
              <a:buChar char="•"/>
            </a:pPr>
            <a:r>
              <a:rPr lang="en-US" sz="3155">
                <a:solidFill>
                  <a:srgbClr val="000000"/>
                </a:solidFill>
                <a:latin typeface="Arial"/>
                <a:ea typeface="Arial"/>
                <a:cs typeface="Arial"/>
                <a:sym typeface="Arial"/>
              </a:rPr>
              <a:t>Disaster Ratio – disaster_count / total frequency</a:t>
            </a:r>
          </a:p>
          <a:p>
            <a:pPr algn="l">
              <a:lnSpc>
                <a:spcPts val="3597"/>
              </a:lnSpc>
            </a:pPr>
            <a:r>
              <a:rPr lang="en-US" sz="3155">
                <a:solidFill>
                  <a:srgbClr val="000000"/>
                </a:solidFill>
                <a:latin typeface="Arial"/>
                <a:ea typeface="Arial"/>
                <a:cs typeface="Arial"/>
                <a:sym typeface="Arial"/>
              </a:rPr>
              <a:t>N</a:t>
            </a:r>
            <a:r>
              <a:rPr lang="en-US" sz="3155">
                <a:solidFill>
                  <a:srgbClr val="000000"/>
                </a:solidFill>
                <a:latin typeface="Arial"/>
                <a:ea typeface="Arial"/>
                <a:cs typeface="Arial"/>
                <a:sym typeface="Arial"/>
              </a:rPr>
              <a:t>o</a:t>
            </a:r>
            <a:r>
              <a:rPr lang="en-US" sz="3155">
                <a:solidFill>
                  <a:srgbClr val="000000"/>
                </a:solidFill>
                <a:latin typeface="Arial"/>
                <a:ea typeface="Arial"/>
                <a:cs typeface="Arial"/>
                <a:sym typeface="Arial"/>
              </a:rPr>
              <a:t>de Ty</a:t>
            </a:r>
            <a:r>
              <a:rPr lang="en-US" sz="3155">
                <a:solidFill>
                  <a:srgbClr val="000000"/>
                </a:solidFill>
                <a:latin typeface="Arial"/>
                <a:ea typeface="Arial"/>
                <a:cs typeface="Arial"/>
                <a:sym typeface="Arial"/>
              </a:rPr>
              <a:t>p</a:t>
            </a:r>
            <a:r>
              <a:rPr lang="en-US" sz="3155">
                <a:solidFill>
                  <a:srgbClr val="000000"/>
                </a:solidFill>
                <a:latin typeface="Arial"/>
                <a:ea typeface="Arial"/>
                <a:cs typeface="Arial"/>
                <a:sym typeface="Arial"/>
              </a:rPr>
              <a:t>e</a:t>
            </a:r>
            <a:r>
              <a:rPr lang="en-US" sz="3155">
                <a:solidFill>
                  <a:srgbClr val="000000"/>
                </a:solidFill>
                <a:latin typeface="Arial"/>
                <a:ea typeface="Arial"/>
                <a:cs typeface="Arial"/>
                <a:sym typeface="Arial"/>
              </a:rPr>
              <a:t> </a:t>
            </a:r>
            <a:r>
              <a:rPr lang="en-US" sz="3155">
                <a:solidFill>
                  <a:srgbClr val="000000"/>
                </a:solidFill>
                <a:latin typeface="Arial"/>
                <a:ea typeface="Arial"/>
                <a:cs typeface="Arial"/>
                <a:sym typeface="Arial"/>
              </a:rPr>
              <a:t>based</a:t>
            </a:r>
            <a:r>
              <a:rPr lang="en-US" sz="3155">
                <a:solidFill>
                  <a:srgbClr val="000000"/>
                </a:solidFill>
                <a:latin typeface="Arial"/>
                <a:ea typeface="Arial"/>
                <a:cs typeface="Arial"/>
                <a:sym typeface="Arial"/>
              </a:rPr>
              <a:t> </a:t>
            </a:r>
            <a:r>
              <a:rPr lang="en-US" sz="3155">
                <a:solidFill>
                  <a:srgbClr val="000000"/>
                </a:solidFill>
                <a:latin typeface="Arial"/>
                <a:ea typeface="Arial"/>
                <a:cs typeface="Arial"/>
                <a:sym typeface="Arial"/>
              </a:rPr>
              <a:t>on d</a:t>
            </a:r>
            <a:r>
              <a:rPr lang="en-US" sz="3155">
                <a:solidFill>
                  <a:srgbClr val="000000"/>
                </a:solidFill>
                <a:latin typeface="Arial"/>
                <a:ea typeface="Arial"/>
                <a:cs typeface="Arial"/>
                <a:sym typeface="Arial"/>
              </a:rPr>
              <a:t>isa</a:t>
            </a:r>
            <a:r>
              <a:rPr lang="en-US" sz="3155">
                <a:solidFill>
                  <a:srgbClr val="000000"/>
                </a:solidFill>
                <a:latin typeface="Arial"/>
                <a:ea typeface="Arial"/>
                <a:cs typeface="Arial"/>
                <a:sym typeface="Arial"/>
              </a:rPr>
              <a:t>ste</a:t>
            </a:r>
            <a:r>
              <a:rPr lang="en-US" sz="3155">
                <a:solidFill>
                  <a:srgbClr val="000000"/>
                </a:solidFill>
                <a:latin typeface="Arial"/>
                <a:ea typeface="Arial"/>
                <a:cs typeface="Arial"/>
                <a:sym typeface="Arial"/>
              </a:rPr>
              <a:t>r t</a:t>
            </a:r>
            <a:r>
              <a:rPr lang="en-US" sz="3155">
                <a:solidFill>
                  <a:srgbClr val="000000"/>
                </a:solidFill>
                <a:latin typeface="Arial"/>
                <a:ea typeface="Arial"/>
                <a:cs typeface="Arial"/>
                <a:sym typeface="Arial"/>
              </a:rPr>
              <a:t>endency</a:t>
            </a:r>
            <a:r>
              <a:rPr lang="en-US" sz="3155">
                <a:solidFill>
                  <a:srgbClr val="000000"/>
                </a:solidFill>
                <a:latin typeface="Arial"/>
                <a:ea typeface="Arial"/>
                <a:cs typeface="Arial"/>
                <a:sym typeface="Arial"/>
              </a:rPr>
              <a:t>:</a:t>
            </a:r>
          </a:p>
          <a:p>
            <a:pPr algn="l" marL="1076056" indent="-538028" lvl="1">
              <a:lnSpc>
                <a:spcPts val="3597"/>
              </a:lnSpc>
              <a:buFont typeface="Arial"/>
              <a:buChar char="•"/>
            </a:pPr>
            <a:r>
              <a:rPr lang="en-US" sz="3155">
                <a:solidFill>
                  <a:srgbClr val="000000"/>
                </a:solidFill>
                <a:latin typeface="Arial"/>
                <a:ea typeface="Arial"/>
                <a:cs typeface="Arial"/>
                <a:sym typeface="Arial"/>
              </a:rPr>
              <a:t>Disaster hashtag: ratio ≥ 0.8</a:t>
            </a:r>
          </a:p>
          <a:p>
            <a:pPr algn="l" marL="1076057" indent="-538029" lvl="1">
              <a:lnSpc>
                <a:spcPts val="3597"/>
              </a:lnSpc>
              <a:buFont typeface="Arial"/>
              <a:buChar char="•"/>
            </a:pPr>
            <a:r>
              <a:rPr lang="en-US" sz="3155">
                <a:solidFill>
                  <a:srgbClr val="000000"/>
                </a:solidFill>
                <a:latin typeface="Arial"/>
                <a:ea typeface="Arial"/>
                <a:cs typeface="Arial"/>
                <a:sym typeface="Arial"/>
              </a:rPr>
              <a:t>Mixed hashtag: 0.2 ≤ ratio &lt; 0.8</a:t>
            </a:r>
          </a:p>
          <a:p>
            <a:pPr algn="l" marL="1076057" indent="-538029" lvl="1">
              <a:lnSpc>
                <a:spcPts val="3597"/>
              </a:lnSpc>
              <a:buFont typeface="Arial"/>
              <a:buChar char="•"/>
            </a:pPr>
            <a:r>
              <a:rPr lang="en-US" sz="3155">
                <a:solidFill>
                  <a:srgbClr val="000000"/>
                </a:solidFill>
                <a:latin typeface="Arial"/>
                <a:ea typeface="Arial"/>
                <a:cs typeface="Arial"/>
                <a:sym typeface="Arial"/>
              </a:rPr>
              <a:t>N</a:t>
            </a:r>
            <a:r>
              <a:rPr lang="en-US" sz="3155">
                <a:solidFill>
                  <a:srgbClr val="000000"/>
                </a:solidFill>
                <a:latin typeface="Arial"/>
                <a:ea typeface="Arial"/>
                <a:cs typeface="Arial"/>
                <a:sym typeface="Arial"/>
              </a:rPr>
              <a:t>o</a:t>
            </a:r>
            <a:r>
              <a:rPr lang="en-US" sz="3155">
                <a:solidFill>
                  <a:srgbClr val="000000"/>
                </a:solidFill>
                <a:latin typeface="Arial"/>
                <a:ea typeface="Arial"/>
                <a:cs typeface="Arial"/>
                <a:sym typeface="Arial"/>
              </a:rPr>
              <a:t>n-d</a:t>
            </a:r>
            <a:r>
              <a:rPr lang="en-US" sz="3155">
                <a:solidFill>
                  <a:srgbClr val="000000"/>
                </a:solidFill>
                <a:latin typeface="Arial"/>
                <a:ea typeface="Arial"/>
                <a:cs typeface="Arial"/>
                <a:sym typeface="Arial"/>
              </a:rPr>
              <a:t>i</a:t>
            </a:r>
            <a:r>
              <a:rPr lang="en-US" sz="3155">
                <a:solidFill>
                  <a:srgbClr val="000000"/>
                </a:solidFill>
                <a:latin typeface="Arial"/>
                <a:ea typeface="Arial"/>
                <a:cs typeface="Arial"/>
                <a:sym typeface="Arial"/>
              </a:rPr>
              <a:t>sa</a:t>
            </a:r>
            <a:r>
              <a:rPr lang="en-US" sz="3155">
                <a:solidFill>
                  <a:srgbClr val="000000"/>
                </a:solidFill>
                <a:latin typeface="Arial"/>
                <a:ea typeface="Arial"/>
                <a:cs typeface="Arial"/>
                <a:sym typeface="Arial"/>
              </a:rPr>
              <a:t>s</a:t>
            </a:r>
            <a:r>
              <a:rPr lang="en-US" sz="3155">
                <a:solidFill>
                  <a:srgbClr val="000000"/>
                </a:solidFill>
                <a:latin typeface="Arial"/>
                <a:ea typeface="Arial"/>
                <a:cs typeface="Arial"/>
                <a:sym typeface="Arial"/>
              </a:rPr>
              <a:t>t</a:t>
            </a:r>
            <a:r>
              <a:rPr lang="en-US" sz="3155">
                <a:solidFill>
                  <a:srgbClr val="000000"/>
                </a:solidFill>
                <a:latin typeface="Arial"/>
                <a:ea typeface="Arial"/>
                <a:cs typeface="Arial"/>
                <a:sym typeface="Arial"/>
              </a:rPr>
              <a:t>er </a:t>
            </a:r>
            <a:r>
              <a:rPr lang="en-US" sz="3155">
                <a:solidFill>
                  <a:srgbClr val="000000"/>
                </a:solidFill>
                <a:latin typeface="Arial"/>
                <a:ea typeface="Arial"/>
                <a:cs typeface="Arial"/>
                <a:sym typeface="Arial"/>
              </a:rPr>
              <a:t>hashtag: ratio &lt; 0.2</a:t>
            </a:r>
          </a:p>
          <a:p>
            <a:pPr algn="l">
              <a:lnSpc>
                <a:spcPts val="3597"/>
              </a:lnSpc>
            </a:pPr>
            <a:r>
              <a:rPr lang="en-US" sz="3155">
                <a:solidFill>
                  <a:srgbClr val="000000"/>
                </a:solidFill>
                <a:latin typeface="Arial"/>
                <a:ea typeface="Arial"/>
                <a:cs typeface="Arial"/>
                <a:sym typeface="Arial"/>
              </a:rPr>
              <a:t>T</a:t>
            </a:r>
            <a:r>
              <a:rPr lang="en-US" sz="3155">
                <a:solidFill>
                  <a:srgbClr val="000000"/>
                </a:solidFill>
                <a:latin typeface="Arial"/>
                <a:ea typeface="Arial"/>
                <a:cs typeface="Arial"/>
                <a:sym typeface="Arial"/>
              </a:rPr>
              <a:t>w</a:t>
            </a:r>
            <a:r>
              <a:rPr lang="en-US" sz="3155">
                <a:solidFill>
                  <a:srgbClr val="000000"/>
                </a:solidFill>
                <a:latin typeface="Arial"/>
                <a:ea typeface="Arial"/>
                <a:cs typeface="Arial"/>
                <a:sym typeface="Arial"/>
              </a:rPr>
              <a:t>o </a:t>
            </a:r>
            <a:r>
              <a:rPr lang="en-US" sz="3155">
                <a:solidFill>
                  <a:srgbClr val="000000"/>
                </a:solidFill>
                <a:latin typeface="Arial"/>
                <a:ea typeface="Arial"/>
                <a:cs typeface="Arial"/>
                <a:sym typeface="Arial"/>
              </a:rPr>
              <a:t>f</a:t>
            </a:r>
            <a:r>
              <a:rPr lang="en-US" sz="3155">
                <a:solidFill>
                  <a:srgbClr val="000000"/>
                </a:solidFill>
                <a:latin typeface="Arial"/>
                <a:ea typeface="Arial"/>
                <a:cs typeface="Arial"/>
                <a:sym typeface="Arial"/>
              </a:rPr>
              <a:t>il</a:t>
            </a:r>
            <a:r>
              <a:rPr lang="en-US" sz="3155">
                <a:solidFill>
                  <a:srgbClr val="000000"/>
                </a:solidFill>
                <a:latin typeface="Arial"/>
                <a:ea typeface="Arial"/>
                <a:cs typeface="Arial"/>
                <a:sym typeface="Arial"/>
              </a:rPr>
              <a:t>e</a:t>
            </a:r>
            <a:r>
              <a:rPr lang="en-US" sz="3155">
                <a:solidFill>
                  <a:srgbClr val="000000"/>
                </a:solidFill>
                <a:latin typeface="Arial"/>
                <a:ea typeface="Arial"/>
                <a:cs typeface="Arial"/>
                <a:sym typeface="Arial"/>
              </a:rPr>
              <a:t>s </a:t>
            </a:r>
            <a:r>
              <a:rPr lang="en-US" sz="3155">
                <a:solidFill>
                  <a:srgbClr val="000000"/>
                </a:solidFill>
                <a:latin typeface="Arial"/>
                <a:ea typeface="Arial"/>
                <a:cs typeface="Arial"/>
                <a:sym typeface="Arial"/>
              </a:rPr>
              <a:t>we</a:t>
            </a:r>
            <a:r>
              <a:rPr lang="en-US" sz="3155">
                <a:solidFill>
                  <a:srgbClr val="000000"/>
                </a:solidFill>
                <a:latin typeface="Arial"/>
                <a:ea typeface="Arial"/>
                <a:cs typeface="Arial"/>
                <a:sym typeface="Arial"/>
              </a:rPr>
              <a:t>re </a:t>
            </a:r>
            <a:r>
              <a:rPr lang="en-US" sz="3155">
                <a:solidFill>
                  <a:srgbClr val="000000"/>
                </a:solidFill>
                <a:latin typeface="Arial"/>
                <a:ea typeface="Arial"/>
                <a:cs typeface="Arial"/>
                <a:sym typeface="Arial"/>
              </a:rPr>
              <a:t>generated:</a:t>
            </a:r>
          </a:p>
          <a:p>
            <a:pPr algn="l" marL="1076056" indent="-538028" lvl="1">
              <a:lnSpc>
                <a:spcPts val="3597"/>
              </a:lnSpc>
              <a:buFont typeface="Arial"/>
              <a:buChar char="•"/>
            </a:pPr>
            <a:r>
              <a:rPr lang="en-US" sz="3155">
                <a:solidFill>
                  <a:srgbClr val="000000"/>
                </a:solidFill>
                <a:latin typeface="Arial"/>
                <a:ea typeface="Arial"/>
                <a:cs typeface="Arial"/>
                <a:sym typeface="Arial"/>
              </a:rPr>
              <a:t>nodes.csv — containing all hashtag statistics</a:t>
            </a:r>
          </a:p>
          <a:p>
            <a:pPr algn="l" marL="1076056" indent="-538028" lvl="1">
              <a:lnSpc>
                <a:spcPts val="3597"/>
              </a:lnSpc>
              <a:buFont typeface="Arial"/>
              <a:buChar char="•"/>
            </a:pPr>
            <a:r>
              <a:rPr lang="en-US" sz="3155">
                <a:solidFill>
                  <a:srgbClr val="000000"/>
                </a:solidFill>
                <a:latin typeface="Arial"/>
                <a:ea typeface="Arial"/>
                <a:cs typeface="Arial"/>
                <a:sym typeface="Arial"/>
              </a:rPr>
              <a:t>edges.</a:t>
            </a:r>
            <a:r>
              <a:rPr lang="en-US" sz="3155">
                <a:solidFill>
                  <a:srgbClr val="000000"/>
                </a:solidFill>
                <a:latin typeface="Arial"/>
                <a:ea typeface="Arial"/>
                <a:cs typeface="Arial"/>
                <a:sym typeface="Arial"/>
              </a:rPr>
              <a:t>csv — containing co-occurrence relationships b</a:t>
            </a:r>
            <a:r>
              <a:rPr lang="en-US" sz="3155">
                <a:solidFill>
                  <a:srgbClr val="000000"/>
                </a:solidFill>
                <a:latin typeface="Arial"/>
                <a:ea typeface="Arial"/>
                <a:cs typeface="Arial"/>
                <a:sym typeface="Arial"/>
              </a:rPr>
              <a:t>etw</a:t>
            </a:r>
            <a:r>
              <a:rPr lang="en-US" sz="3155">
                <a:solidFill>
                  <a:srgbClr val="000000"/>
                </a:solidFill>
                <a:latin typeface="Arial"/>
                <a:ea typeface="Arial"/>
                <a:cs typeface="Arial"/>
                <a:sym typeface="Arial"/>
              </a:rPr>
              <a:t>e</a:t>
            </a:r>
            <a:r>
              <a:rPr lang="en-US" sz="3155">
                <a:solidFill>
                  <a:srgbClr val="000000"/>
                </a:solidFill>
                <a:latin typeface="Arial"/>
                <a:ea typeface="Arial"/>
                <a:cs typeface="Arial"/>
                <a:sym typeface="Arial"/>
              </a:rPr>
              <a:t>en </a:t>
            </a:r>
            <a:r>
              <a:rPr lang="en-US" sz="3155">
                <a:solidFill>
                  <a:srgbClr val="000000"/>
                </a:solidFill>
                <a:latin typeface="Arial"/>
                <a:ea typeface="Arial"/>
                <a:cs typeface="Arial"/>
                <a:sym typeface="Arial"/>
              </a:rPr>
              <a:t>h</a:t>
            </a:r>
            <a:r>
              <a:rPr lang="en-US" sz="3155">
                <a:solidFill>
                  <a:srgbClr val="000000"/>
                </a:solidFill>
                <a:latin typeface="Arial"/>
                <a:ea typeface="Arial"/>
                <a:cs typeface="Arial"/>
                <a:sym typeface="Arial"/>
              </a:rPr>
              <a:t>a</a:t>
            </a:r>
            <a:r>
              <a:rPr lang="en-US" sz="3155">
                <a:solidFill>
                  <a:srgbClr val="000000"/>
                </a:solidFill>
                <a:latin typeface="Arial"/>
                <a:ea typeface="Arial"/>
                <a:cs typeface="Arial"/>
                <a:sym typeface="Arial"/>
              </a:rPr>
              <a:t>sht</a:t>
            </a:r>
            <a:r>
              <a:rPr lang="en-US" sz="3155">
                <a:solidFill>
                  <a:srgbClr val="000000"/>
                </a:solidFill>
                <a:latin typeface="Arial"/>
                <a:ea typeface="Arial"/>
                <a:cs typeface="Arial"/>
                <a:sym typeface="Arial"/>
              </a:rPr>
              <a:t>a</a:t>
            </a:r>
            <a:r>
              <a:rPr lang="en-US" sz="3155">
                <a:solidFill>
                  <a:srgbClr val="000000"/>
                </a:solidFill>
                <a:latin typeface="Arial"/>
                <a:ea typeface="Arial"/>
                <a:cs typeface="Arial"/>
                <a:sym typeface="Arial"/>
              </a:rPr>
              <a:t>gs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263784"/>
            <a:ext cx="18288000" cy="5232031"/>
          </a:xfrm>
          <a:custGeom>
            <a:avLst/>
            <a:gdLst/>
            <a:ahLst/>
            <a:cxnLst/>
            <a:rect r="r" b="b" t="t" l="l"/>
            <a:pathLst>
              <a:path h="5232031" w="18288000">
                <a:moveTo>
                  <a:pt x="0" y="0"/>
                </a:moveTo>
                <a:lnTo>
                  <a:pt x="18288000" y="0"/>
                </a:lnTo>
                <a:lnTo>
                  <a:pt x="18288000" y="5232030"/>
                </a:lnTo>
                <a:lnTo>
                  <a:pt x="0" y="5232030"/>
                </a:lnTo>
                <a:lnTo>
                  <a:pt x="0" y="0"/>
                </a:lnTo>
                <a:close/>
              </a:path>
            </a:pathLst>
          </a:custGeom>
          <a:blipFill>
            <a:blip r:embed="rId3"/>
            <a:stretch>
              <a:fillRect l="0" t="-7749" r="0" b="-116"/>
            </a:stretch>
          </a:blipFill>
        </p:spPr>
      </p:sp>
      <p:grpSp>
        <p:nvGrpSpPr>
          <p:cNvPr name="Group 3" id="3"/>
          <p:cNvGrpSpPr/>
          <p:nvPr/>
        </p:nvGrpSpPr>
        <p:grpSpPr>
          <a:xfrm rot="0">
            <a:off x="1257300" y="698917"/>
            <a:ext cx="15773400" cy="2962208"/>
            <a:chOff x="0" y="0"/>
            <a:chExt cx="21031200" cy="3949611"/>
          </a:xfrm>
        </p:grpSpPr>
        <p:sp>
          <p:nvSpPr>
            <p:cNvPr name="Freeform 4" id="4"/>
            <p:cNvSpPr/>
            <p:nvPr/>
          </p:nvSpPr>
          <p:spPr>
            <a:xfrm flipH="false" flipV="false" rot="0">
              <a:off x="0" y="0"/>
              <a:ext cx="21031200" cy="3949611"/>
            </a:xfrm>
            <a:custGeom>
              <a:avLst/>
              <a:gdLst/>
              <a:ahLst/>
              <a:cxnLst/>
              <a:rect r="r" b="b" t="t" l="l"/>
              <a:pathLst>
                <a:path h="3949611" w="21031200">
                  <a:moveTo>
                    <a:pt x="0" y="0"/>
                  </a:moveTo>
                  <a:lnTo>
                    <a:pt x="21031200" y="0"/>
                  </a:lnTo>
                  <a:lnTo>
                    <a:pt x="21031200" y="3949611"/>
                  </a:lnTo>
                  <a:lnTo>
                    <a:pt x="0" y="3949611"/>
                  </a:lnTo>
                  <a:close/>
                </a:path>
              </a:pathLst>
            </a:custGeom>
            <a:solidFill>
              <a:srgbClr val="000000">
                <a:alpha val="0"/>
              </a:srgbClr>
            </a:solidFill>
          </p:spPr>
        </p:sp>
        <p:sp>
          <p:nvSpPr>
            <p:cNvPr name="TextBox 5" id="5"/>
            <p:cNvSpPr txBox="true"/>
            <p:nvPr/>
          </p:nvSpPr>
          <p:spPr>
            <a:xfrm>
              <a:off x="0" y="85725"/>
              <a:ext cx="21031200" cy="3863886"/>
            </a:xfrm>
            <a:prstGeom prst="rect">
              <a:avLst/>
            </a:prstGeom>
          </p:spPr>
          <p:txBody>
            <a:bodyPr anchor="ctr" rtlCol="false" tIns="0" lIns="0" bIns="0" rIns="0"/>
            <a:lstStyle/>
            <a:p>
              <a:pPr algn="ctr">
                <a:lnSpc>
                  <a:spcPts val="8423"/>
                </a:lnSpc>
              </a:pPr>
              <a:r>
                <a:rPr lang="en-US" sz="7799">
                  <a:solidFill>
                    <a:srgbClr val="000000"/>
                  </a:solidFill>
                  <a:latin typeface="Play"/>
                  <a:ea typeface="Play"/>
                  <a:cs typeface="Play"/>
                  <a:sym typeface="Play"/>
                </a:rPr>
                <a:t>Network Degree Distribution Analysis</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93371" y="0"/>
            <a:ext cx="13113982" cy="10232756"/>
          </a:xfrm>
          <a:custGeom>
            <a:avLst/>
            <a:gdLst/>
            <a:ahLst/>
            <a:cxnLst/>
            <a:rect r="r" b="b" t="t" l="l"/>
            <a:pathLst>
              <a:path h="10232756" w="13113982">
                <a:moveTo>
                  <a:pt x="0" y="0"/>
                </a:moveTo>
                <a:lnTo>
                  <a:pt x="13113982" y="0"/>
                </a:lnTo>
                <a:lnTo>
                  <a:pt x="13113982" y="10232756"/>
                </a:lnTo>
                <a:lnTo>
                  <a:pt x="0" y="10232756"/>
                </a:lnTo>
                <a:lnTo>
                  <a:pt x="0" y="0"/>
                </a:lnTo>
                <a:close/>
              </a:path>
            </a:pathLst>
          </a:custGeom>
          <a:blipFill>
            <a:blip r:embed="rId3"/>
            <a:stretch>
              <a:fillRect l="-106" t="-14" r="0" b="-14"/>
            </a:stretch>
          </a:blipFill>
        </p:spPr>
      </p:sp>
      <p:sp>
        <p:nvSpPr>
          <p:cNvPr name="TextBox 3" id="3"/>
          <p:cNvSpPr txBox="true"/>
          <p:nvPr/>
        </p:nvSpPr>
        <p:spPr>
          <a:xfrm rot="0">
            <a:off x="0" y="2755856"/>
            <a:ext cx="5351458" cy="3662934"/>
          </a:xfrm>
          <a:prstGeom prst="rect">
            <a:avLst/>
          </a:prstGeom>
        </p:spPr>
        <p:txBody>
          <a:bodyPr anchor="t" rtlCol="false" tIns="0" lIns="0" bIns="0" rIns="0">
            <a:spAutoFit/>
          </a:bodyPr>
          <a:lstStyle/>
          <a:p>
            <a:pPr algn="ctr">
              <a:lnSpc>
                <a:spcPts val="7128"/>
              </a:lnSpc>
              <a:spcBef>
                <a:spcPct val="0"/>
              </a:spcBef>
            </a:pPr>
            <a:r>
              <a:rPr lang="en-US" sz="6600">
                <a:solidFill>
                  <a:srgbClr val="000000"/>
                </a:solidFill>
                <a:latin typeface="Play"/>
                <a:ea typeface="Play"/>
                <a:cs typeface="Play"/>
                <a:sym typeface="Play"/>
              </a:rPr>
              <a:t>Disaster VS Non Disaster Related Analysis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281314" y="-285159"/>
            <a:ext cx="13006686" cy="10572159"/>
          </a:xfrm>
          <a:custGeom>
            <a:avLst/>
            <a:gdLst/>
            <a:ahLst/>
            <a:cxnLst/>
            <a:rect r="r" b="b" t="t" l="l"/>
            <a:pathLst>
              <a:path h="10572159" w="13006686">
                <a:moveTo>
                  <a:pt x="0" y="0"/>
                </a:moveTo>
                <a:lnTo>
                  <a:pt x="13006686" y="0"/>
                </a:lnTo>
                <a:lnTo>
                  <a:pt x="13006686" y="10572159"/>
                </a:lnTo>
                <a:lnTo>
                  <a:pt x="0" y="10572159"/>
                </a:lnTo>
                <a:lnTo>
                  <a:pt x="0" y="0"/>
                </a:lnTo>
                <a:close/>
              </a:path>
            </a:pathLst>
          </a:custGeom>
          <a:blipFill>
            <a:blip r:embed="rId3"/>
            <a:stretch>
              <a:fillRect l="-889" t="-633" r="-1058" b="0"/>
            </a:stretch>
          </a:blipFill>
        </p:spPr>
      </p:sp>
      <p:sp>
        <p:nvSpPr>
          <p:cNvPr name="TextBox 3" id="3"/>
          <p:cNvSpPr txBox="true"/>
          <p:nvPr/>
        </p:nvSpPr>
        <p:spPr>
          <a:xfrm rot="0">
            <a:off x="-188902" y="2580373"/>
            <a:ext cx="5470215" cy="3662934"/>
          </a:xfrm>
          <a:prstGeom prst="rect">
            <a:avLst/>
          </a:prstGeom>
        </p:spPr>
        <p:txBody>
          <a:bodyPr anchor="t" rtlCol="false" tIns="0" lIns="0" bIns="0" rIns="0">
            <a:spAutoFit/>
          </a:bodyPr>
          <a:lstStyle/>
          <a:p>
            <a:pPr algn="ctr">
              <a:lnSpc>
                <a:spcPts val="7128"/>
              </a:lnSpc>
              <a:spcBef>
                <a:spcPct val="0"/>
              </a:spcBef>
            </a:pPr>
            <a:r>
              <a:rPr lang="en-US" sz="6600">
                <a:solidFill>
                  <a:srgbClr val="000000"/>
                </a:solidFill>
                <a:latin typeface="Play"/>
                <a:ea typeface="Play"/>
                <a:cs typeface="Play"/>
                <a:sym typeface="Play"/>
              </a:rPr>
              <a:t>Top Hastags By Different Centrality Measures</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44515" y="583121"/>
            <a:ext cx="6998970" cy="948309"/>
          </a:xfrm>
          <a:prstGeom prst="rect">
            <a:avLst/>
          </a:prstGeom>
        </p:spPr>
        <p:txBody>
          <a:bodyPr anchor="t" rtlCol="false" tIns="0" lIns="0" bIns="0" rIns="0">
            <a:spAutoFit/>
          </a:bodyPr>
          <a:lstStyle/>
          <a:p>
            <a:pPr algn="ctr">
              <a:lnSpc>
                <a:spcPts val="7128"/>
              </a:lnSpc>
              <a:spcBef>
                <a:spcPct val="0"/>
              </a:spcBef>
            </a:pPr>
            <a:r>
              <a:rPr lang="en-US" sz="6600">
                <a:solidFill>
                  <a:srgbClr val="000000"/>
                </a:solidFill>
                <a:latin typeface="Play"/>
                <a:ea typeface="Play"/>
                <a:cs typeface="Play"/>
                <a:sym typeface="Play"/>
              </a:rPr>
              <a:t>Network Statistics</a:t>
            </a:r>
          </a:p>
        </p:txBody>
      </p:sp>
      <p:sp>
        <p:nvSpPr>
          <p:cNvPr name="TextBox 3" id="3"/>
          <p:cNvSpPr txBox="true"/>
          <p:nvPr/>
        </p:nvSpPr>
        <p:spPr>
          <a:xfrm rot="0">
            <a:off x="1028700" y="1952834"/>
            <a:ext cx="19403611" cy="6655825"/>
          </a:xfrm>
          <a:prstGeom prst="rect">
            <a:avLst/>
          </a:prstGeom>
        </p:spPr>
        <p:txBody>
          <a:bodyPr anchor="t" rtlCol="false" tIns="0" lIns="0" bIns="0" rIns="0">
            <a:spAutoFit/>
          </a:bodyPr>
          <a:lstStyle/>
          <a:p>
            <a:pPr algn="l">
              <a:lnSpc>
                <a:spcPts val="6597"/>
              </a:lnSpc>
            </a:pPr>
            <a:r>
              <a:rPr lang="en-US" sz="6108">
                <a:solidFill>
                  <a:srgbClr val="000000"/>
                </a:solidFill>
                <a:latin typeface="Play"/>
                <a:ea typeface="Play"/>
                <a:cs typeface="Play"/>
                <a:sym typeface="Play"/>
              </a:rPr>
              <a:t> </a:t>
            </a:r>
          </a:p>
          <a:p>
            <a:pPr algn="l">
              <a:lnSpc>
                <a:spcPts val="6597"/>
              </a:lnSpc>
              <a:spcBef>
                <a:spcPct val="0"/>
              </a:spcBef>
            </a:pPr>
            <a:r>
              <a:rPr lang="en-US" sz="6108">
                <a:solidFill>
                  <a:srgbClr val="000000"/>
                </a:solidFill>
                <a:latin typeface="Arial"/>
                <a:ea typeface="Arial"/>
                <a:cs typeface="Arial"/>
                <a:sym typeface="Arial"/>
              </a:rPr>
              <a:t>   • Netw</a:t>
            </a:r>
            <a:r>
              <a:rPr lang="en-US" sz="6108">
                <a:solidFill>
                  <a:srgbClr val="000000"/>
                </a:solidFill>
                <a:latin typeface="Arial"/>
                <a:ea typeface="Arial"/>
                <a:cs typeface="Arial"/>
                <a:sym typeface="Arial"/>
              </a:rPr>
              <a:t>ork Density: 0.0013</a:t>
            </a:r>
          </a:p>
          <a:p>
            <a:pPr algn="l">
              <a:lnSpc>
                <a:spcPts val="6597"/>
              </a:lnSpc>
              <a:spcBef>
                <a:spcPct val="0"/>
              </a:spcBef>
            </a:pPr>
            <a:r>
              <a:rPr lang="en-US" sz="6108">
                <a:solidFill>
                  <a:srgbClr val="000000"/>
                </a:solidFill>
                <a:latin typeface="Arial"/>
                <a:ea typeface="Arial"/>
                <a:cs typeface="Arial"/>
                <a:sym typeface="Arial"/>
              </a:rPr>
              <a:t>   • Largest component: 656 nodes</a:t>
            </a:r>
          </a:p>
          <a:p>
            <a:pPr algn="l">
              <a:lnSpc>
                <a:spcPts val="6597"/>
              </a:lnSpc>
              <a:spcBef>
                <a:spcPct val="0"/>
              </a:spcBef>
            </a:pPr>
            <a:r>
              <a:rPr lang="en-US" sz="6108">
                <a:solidFill>
                  <a:srgbClr val="000000"/>
                </a:solidFill>
                <a:latin typeface="Arial"/>
                <a:ea typeface="Arial"/>
                <a:cs typeface="Arial"/>
                <a:sym typeface="Arial"/>
              </a:rPr>
              <a:t>   • Average Degree: 2.59</a:t>
            </a:r>
          </a:p>
          <a:p>
            <a:pPr algn="l">
              <a:lnSpc>
                <a:spcPts val="6597"/>
              </a:lnSpc>
              <a:spcBef>
                <a:spcPct val="0"/>
              </a:spcBef>
            </a:pPr>
            <a:r>
              <a:rPr lang="en-US" sz="6108">
                <a:solidFill>
                  <a:srgbClr val="000000"/>
                </a:solidFill>
                <a:latin typeface="Arial"/>
                <a:ea typeface="Arial"/>
                <a:cs typeface="Arial"/>
                <a:sym typeface="Arial"/>
              </a:rPr>
              <a:t>   • Network Diameter: 13</a:t>
            </a:r>
          </a:p>
          <a:p>
            <a:pPr algn="l">
              <a:lnSpc>
                <a:spcPts val="6597"/>
              </a:lnSpc>
              <a:spcBef>
                <a:spcPct val="0"/>
              </a:spcBef>
            </a:pPr>
            <a:r>
              <a:rPr lang="en-US" sz="6108">
                <a:solidFill>
                  <a:srgbClr val="000000"/>
                </a:solidFill>
                <a:latin typeface="Arial"/>
                <a:ea typeface="Arial"/>
                <a:cs typeface="Arial"/>
                <a:sym typeface="Arial"/>
              </a:rPr>
              <a:t>   • Average Path Length: 5.7679</a:t>
            </a:r>
          </a:p>
          <a:p>
            <a:pPr algn="l">
              <a:lnSpc>
                <a:spcPts val="6597"/>
              </a:lnSpc>
              <a:spcBef>
                <a:spcPct val="0"/>
              </a:spcBef>
            </a:pPr>
            <a:r>
              <a:rPr lang="en-US" sz="6108">
                <a:solidFill>
                  <a:srgbClr val="000000"/>
                </a:solidFill>
                <a:latin typeface="Arial"/>
                <a:ea typeface="Arial"/>
                <a:cs typeface="Arial"/>
                <a:sym typeface="Arial"/>
              </a:rPr>
              <a:t>   • Average Clustering Coefficient: 0.4340</a:t>
            </a:r>
          </a:p>
          <a:p>
            <a:pPr algn="l">
              <a:lnSpc>
                <a:spcPts val="6597"/>
              </a:lnSpc>
              <a:spcBef>
                <a:spcPct val="0"/>
              </a:spcBef>
            </a:pPr>
            <a:r>
              <a:rPr lang="en-US" sz="6108">
                <a:solidFill>
                  <a:srgbClr val="000000"/>
                </a:solidFill>
                <a:latin typeface="Arial"/>
                <a:ea typeface="Arial"/>
                <a:cs typeface="Arial"/>
                <a:sym typeface="Arial"/>
              </a:rPr>
              <a:t>   • Transitivity: 0.5122</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68750"/>
            <a:ext cx="15773400" cy="1988400"/>
            <a:chOff x="0" y="0"/>
            <a:chExt cx="21031200" cy="2651200"/>
          </a:xfrm>
        </p:grpSpPr>
        <p:sp>
          <p:nvSpPr>
            <p:cNvPr name="Freeform 3" id="3"/>
            <p:cNvSpPr/>
            <p:nvPr/>
          </p:nvSpPr>
          <p:spPr>
            <a:xfrm flipH="false" flipV="false" rot="0">
              <a:off x="0" y="0"/>
              <a:ext cx="21031200" cy="2651200"/>
            </a:xfrm>
            <a:custGeom>
              <a:avLst/>
              <a:gdLst/>
              <a:ahLst/>
              <a:cxnLst/>
              <a:rect r="r" b="b" t="t" l="l"/>
              <a:pathLst>
                <a:path h="2651200" w="21031200">
                  <a:moveTo>
                    <a:pt x="0" y="0"/>
                  </a:moveTo>
                  <a:lnTo>
                    <a:pt x="21031200" y="0"/>
                  </a:lnTo>
                  <a:lnTo>
                    <a:pt x="21031200" y="2651200"/>
                  </a:lnTo>
                  <a:lnTo>
                    <a:pt x="0" y="2651200"/>
                  </a:lnTo>
                  <a:close/>
                </a:path>
              </a:pathLst>
            </a:custGeom>
            <a:solidFill>
              <a:srgbClr val="000000">
                <a:alpha val="0"/>
              </a:srgbClr>
            </a:solidFill>
          </p:spPr>
        </p:sp>
        <p:sp>
          <p:nvSpPr>
            <p:cNvPr name="TextBox 4" id="4"/>
            <p:cNvSpPr txBox="true"/>
            <p:nvPr/>
          </p:nvSpPr>
          <p:spPr>
            <a:xfrm>
              <a:off x="0" y="57150"/>
              <a:ext cx="21031200" cy="2594050"/>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Network Analysis</a:t>
              </a:r>
            </a:p>
            <a:p>
              <a:pPr algn="ctr">
                <a:lnSpc>
                  <a:spcPts val="7128"/>
                </a:lnSpc>
              </a:pPr>
            </a:p>
          </p:txBody>
        </p:sp>
      </p:grpSp>
      <p:sp>
        <p:nvSpPr>
          <p:cNvPr name="TextBox 5" id="5"/>
          <p:cNvSpPr txBox="true"/>
          <p:nvPr/>
        </p:nvSpPr>
        <p:spPr>
          <a:xfrm rot="0">
            <a:off x="887041" y="1210038"/>
            <a:ext cx="19539356" cy="8726222"/>
          </a:xfrm>
          <a:prstGeom prst="rect">
            <a:avLst/>
          </a:prstGeom>
        </p:spPr>
        <p:txBody>
          <a:bodyPr anchor="t" rtlCol="false" tIns="0" lIns="0" bIns="0" rIns="0">
            <a:spAutoFit/>
          </a:bodyPr>
          <a:lstStyle/>
          <a:p>
            <a:pPr algn="l">
              <a:lnSpc>
                <a:spcPts val="3830"/>
              </a:lnSpc>
            </a:pPr>
            <a:r>
              <a:rPr lang="en-US" sz="2775">
                <a:solidFill>
                  <a:srgbClr val="000000"/>
                </a:solidFill>
                <a:latin typeface="Arial"/>
                <a:ea typeface="Arial"/>
                <a:cs typeface="Arial"/>
                <a:sym typeface="Arial"/>
              </a:rPr>
              <a:t>1. Degree Centrality</a:t>
            </a:r>
          </a:p>
          <a:p>
            <a:pPr algn="l" marL="599307" indent="-299653" lvl="1">
              <a:lnSpc>
                <a:spcPts val="3830"/>
              </a:lnSpc>
              <a:buFont typeface="Arial"/>
              <a:buChar char="•"/>
            </a:pPr>
            <a:r>
              <a:rPr lang="en-US" sz="2775">
                <a:solidFill>
                  <a:srgbClr val="000000"/>
                </a:solidFill>
                <a:latin typeface="Arial"/>
                <a:ea typeface="Arial"/>
                <a:cs typeface="Arial"/>
                <a:sym typeface="Arial"/>
              </a:rPr>
              <a:t>Average Degree - 2.588</a:t>
            </a:r>
          </a:p>
          <a:p>
            <a:pPr algn="l" marL="599307" indent="-299653" lvl="1">
              <a:lnSpc>
                <a:spcPts val="3830"/>
              </a:lnSpc>
              <a:buFont typeface="Arial"/>
              <a:buChar char="•"/>
            </a:pPr>
            <a:r>
              <a:rPr lang="en-US" sz="2775">
                <a:solidFill>
                  <a:srgbClr val="000000"/>
                </a:solidFill>
                <a:latin typeface="Arial"/>
                <a:ea typeface="Arial"/>
                <a:cs typeface="Arial"/>
                <a:sym typeface="Arial"/>
              </a:rPr>
              <a:t>Interpretation: Hashtags with high degree centrality are frequently co-used w</a:t>
            </a:r>
            <a:r>
              <a:rPr lang="en-US" sz="2775">
                <a:solidFill>
                  <a:srgbClr val="000000"/>
                </a:solidFill>
                <a:latin typeface="Arial"/>
                <a:ea typeface="Arial"/>
                <a:cs typeface="Arial"/>
                <a:sym typeface="Arial"/>
              </a:rPr>
              <a:t>it</a:t>
            </a:r>
            <a:r>
              <a:rPr lang="en-US" sz="2775">
                <a:solidFill>
                  <a:srgbClr val="000000"/>
                </a:solidFill>
                <a:latin typeface="Arial"/>
                <a:ea typeface="Arial"/>
                <a:cs typeface="Arial"/>
                <a:sym typeface="Arial"/>
              </a:rPr>
              <a:t>h</a:t>
            </a:r>
            <a:r>
              <a:rPr lang="en-US" sz="2775">
                <a:solidFill>
                  <a:srgbClr val="000000"/>
                </a:solidFill>
                <a:latin typeface="Arial"/>
                <a:ea typeface="Arial"/>
                <a:cs typeface="Arial"/>
                <a:sym typeface="Arial"/>
              </a:rPr>
              <a:t> m</a:t>
            </a:r>
            <a:r>
              <a:rPr lang="en-US" sz="2775">
                <a:solidFill>
                  <a:srgbClr val="000000"/>
                </a:solidFill>
                <a:latin typeface="Arial"/>
                <a:ea typeface="Arial"/>
                <a:cs typeface="Arial"/>
                <a:sym typeface="Arial"/>
              </a:rPr>
              <a:t>a</a:t>
            </a:r>
            <a:r>
              <a:rPr lang="en-US" sz="2775">
                <a:solidFill>
                  <a:srgbClr val="000000"/>
                </a:solidFill>
                <a:latin typeface="Arial"/>
                <a:ea typeface="Arial"/>
                <a:cs typeface="Arial"/>
                <a:sym typeface="Arial"/>
              </a:rPr>
              <a:t>n</a:t>
            </a:r>
            <a:r>
              <a:rPr lang="en-US" sz="2775">
                <a:solidFill>
                  <a:srgbClr val="000000"/>
                </a:solidFill>
                <a:latin typeface="Arial"/>
                <a:ea typeface="Arial"/>
                <a:cs typeface="Arial"/>
                <a:sym typeface="Arial"/>
              </a:rPr>
              <a:t>y</a:t>
            </a:r>
            <a:r>
              <a:rPr lang="en-US" sz="2775">
                <a:solidFill>
                  <a:srgbClr val="000000"/>
                </a:solidFill>
                <a:latin typeface="Arial"/>
                <a:ea typeface="Arial"/>
                <a:cs typeface="Arial"/>
                <a:sym typeface="Arial"/>
              </a:rPr>
              <a:t> </a:t>
            </a:r>
            <a:r>
              <a:rPr lang="en-US" sz="2775">
                <a:solidFill>
                  <a:srgbClr val="000000"/>
                </a:solidFill>
                <a:latin typeface="Arial"/>
                <a:ea typeface="Arial"/>
                <a:cs typeface="Arial"/>
                <a:sym typeface="Arial"/>
              </a:rPr>
              <a:t>o</a:t>
            </a:r>
            <a:r>
              <a:rPr lang="en-US" sz="2775">
                <a:solidFill>
                  <a:srgbClr val="000000"/>
                </a:solidFill>
                <a:latin typeface="Arial"/>
                <a:ea typeface="Arial"/>
                <a:cs typeface="Arial"/>
                <a:sym typeface="Arial"/>
              </a:rPr>
              <a:t>t</a:t>
            </a:r>
            <a:r>
              <a:rPr lang="en-US" sz="2775">
                <a:solidFill>
                  <a:srgbClr val="000000"/>
                </a:solidFill>
                <a:latin typeface="Arial"/>
                <a:ea typeface="Arial"/>
                <a:cs typeface="Arial"/>
                <a:sym typeface="Arial"/>
              </a:rPr>
              <a:t>h</a:t>
            </a:r>
            <a:r>
              <a:rPr lang="en-US" sz="2775">
                <a:solidFill>
                  <a:srgbClr val="000000"/>
                </a:solidFill>
                <a:latin typeface="Arial"/>
                <a:ea typeface="Arial"/>
                <a:cs typeface="Arial"/>
                <a:sym typeface="Arial"/>
              </a:rPr>
              <a:t>er </a:t>
            </a:r>
            <a:r>
              <a:rPr lang="en-US" sz="2775">
                <a:solidFill>
                  <a:srgbClr val="000000"/>
                </a:solidFill>
                <a:latin typeface="Arial"/>
                <a:ea typeface="Arial"/>
                <a:cs typeface="Arial"/>
                <a:sym typeface="Arial"/>
              </a:rPr>
              <a:t>h</a:t>
            </a:r>
            <a:r>
              <a:rPr lang="en-US" sz="2775">
                <a:solidFill>
                  <a:srgbClr val="000000"/>
                </a:solidFill>
                <a:latin typeface="Arial"/>
                <a:ea typeface="Arial"/>
                <a:cs typeface="Arial"/>
                <a:sym typeface="Arial"/>
              </a:rPr>
              <a:t>a</a:t>
            </a:r>
            <a:r>
              <a:rPr lang="en-US" sz="2775">
                <a:solidFill>
                  <a:srgbClr val="000000"/>
                </a:solidFill>
                <a:latin typeface="Arial"/>
                <a:ea typeface="Arial"/>
                <a:cs typeface="Arial"/>
                <a:sym typeface="Arial"/>
              </a:rPr>
              <a:t>sh</a:t>
            </a:r>
            <a:r>
              <a:rPr lang="en-US" sz="2775">
                <a:solidFill>
                  <a:srgbClr val="000000"/>
                </a:solidFill>
                <a:latin typeface="Arial"/>
                <a:ea typeface="Arial"/>
                <a:cs typeface="Arial"/>
                <a:sym typeface="Arial"/>
              </a:rPr>
              <a:t>ta</a:t>
            </a:r>
            <a:r>
              <a:rPr lang="en-US" sz="2775">
                <a:solidFill>
                  <a:srgbClr val="000000"/>
                </a:solidFill>
                <a:latin typeface="Arial"/>
                <a:ea typeface="Arial"/>
                <a:cs typeface="Arial"/>
                <a:sym typeface="Arial"/>
              </a:rPr>
              <a:t>gs</a:t>
            </a:r>
          </a:p>
          <a:p>
            <a:pPr algn="l">
              <a:lnSpc>
                <a:spcPts val="3830"/>
              </a:lnSpc>
            </a:pPr>
            <a:r>
              <a:rPr lang="en-US" sz="2775">
                <a:solidFill>
                  <a:srgbClr val="000000"/>
                </a:solidFill>
                <a:latin typeface="Arial"/>
                <a:ea typeface="Arial"/>
                <a:cs typeface="Arial"/>
                <a:sym typeface="Arial"/>
              </a:rPr>
              <a:t>2. Betweenness Centrality</a:t>
            </a:r>
          </a:p>
          <a:p>
            <a:pPr algn="l" marL="599307" indent="-299653" lvl="1">
              <a:lnSpc>
                <a:spcPts val="3830"/>
              </a:lnSpc>
              <a:buFont typeface="Arial"/>
              <a:buChar char="•"/>
            </a:pPr>
            <a:r>
              <a:rPr lang="en-US" sz="2775">
                <a:solidFill>
                  <a:srgbClr val="000000"/>
                </a:solidFill>
                <a:latin typeface="Arial"/>
                <a:ea typeface="Arial"/>
                <a:cs typeface="Arial"/>
                <a:sym typeface="Arial"/>
              </a:rPr>
              <a:t>Network Diameter - 13</a:t>
            </a:r>
          </a:p>
          <a:p>
            <a:pPr algn="l" marL="599307" indent="-299653" lvl="1">
              <a:lnSpc>
                <a:spcPts val="3830"/>
              </a:lnSpc>
              <a:buFont typeface="Arial"/>
              <a:buChar char="•"/>
            </a:pPr>
            <a:r>
              <a:rPr lang="en-US" sz="2775">
                <a:solidFill>
                  <a:srgbClr val="000000"/>
                </a:solidFill>
                <a:latin typeface="Arial"/>
                <a:ea typeface="Arial"/>
                <a:cs typeface="Arial"/>
                <a:sym typeface="Arial"/>
              </a:rPr>
              <a:t>Average Path Length - 5.74666691373352</a:t>
            </a:r>
          </a:p>
          <a:p>
            <a:pPr algn="l" marL="599307" indent="-299653" lvl="1">
              <a:lnSpc>
                <a:spcPts val="3830"/>
              </a:lnSpc>
              <a:buFont typeface="Arial"/>
              <a:buChar char="•"/>
            </a:pPr>
            <a:r>
              <a:rPr lang="en-US" sz="2775">
                <a:solidFill>
                  <a:srgbClr val="000000"/>
                </a:solidFill>
                <a:latin typeface="Arial"/>
                <a:ea typeface="Arial"/>
                <a:cs typeface="Arial"/>
                <a:sym typeface="Arial"/>
              </a:rPr>
              <a:t>Interpretation: High betweenness hashtags connect different disaster-type </a:t>
            </a:r>
            <a:r>
              <a:rPr lang="en-US" sz="2775">
                <a:solidFill>
                  <a:srgbClr val="000000"/>
                </a:solidFill>
                <a:latin typeface="Arial"/>
                <a:ea typeface="Arial"/>
                <a:cs typeface="Arial"/>
                <a:sym typeface="Arial"/>
              </a:rPr>
              <a:t>communities</a:t>
            </a:r>
          </a:p>
          <a:p>
            <a:pPr algn="l">
              <a:lnSpc>
                <a:spcPts val="3830"/>
              </a:lnSpc>
            </a:pPr>
            <a:r>
              <a:rPr lang="en-US" sz="2775">
                <a:solidFill>
                  <a:srgbClr val="000000"/>
                </a:solidFill>
                <a:latin typeface="Arial"/>
                <a:ea typeface="Arial"/>
                <a:cs typeface="Arial"/>
                <a:sym typeface="Arial"/>
              </a:rPr>
              <a:t>3. Closeness Centrality</a:t>
            </a:r>
          </a:p>
          <a:p>
            <a:pPr algn="l" marL="599307" indent="-299653" lvl="1">
              <a:lnSpc>
                <a:spcPts val="3830"/>
              </a:lnSpc>
              <a:buFont typeface="Arial"/>
              <a:buChar char="•"/>
            </a:pPr>
            <a:r>
              <a:rPr lang="en-US" sz="2775">
                <a:solidFill>
                  <a:srgbClr val="000000"/>
                </a:solidFill>
                <a:latin typeface="Arial"/>
                <a:ea typeface="Arial"/>
                <a:cs typeface="Arial"/>
                <a:sym typeface="Arial"/>
              </a:rPr>
              <a:t>Interpretation: Hashtags that can reach others through shortest paths</a:t>
            </a:r>
          </a:p>
          <a:p>
            <a:pPr algn="l">
              <a:lnSpc>
                <a:spcPts val="3830"/>
              </a:lnSpc>
            </a:pPr>
            <a:r>
              <a:rPr lang="en-US" sz="2775">
                <a:solidFill>
                  <a:srgbClr val="000000"/>
                </a:solidFill>
                <a:latin typeface="Arial"/>
                <a:ea typeface="Arial"/>
                <a:cs typeface="Arial"/>
                <a:sym typeface="Arial"/>
              </a:rPr>
              <a:t>4. Eigenvector Centrality / PageRank</a:t>
            </a:r>
          </a:p>
          <a:p>
            <a:pPr algn="l" marL="599307" indent="-299653" lvl="1">
              <a:lnSpc>
                <a:spcPts val="3830"/>
              </a:lnSpc>
              <a:buFont typeface="Arial"/>
              <a:buChar char="•"/>
            </a:pPr>
            <a:r>
              <a:rPr lang="en-US" sz="2775">
                <a:solidFill>
                  <a:srgbClr val="000000"/>
                </a:solidFill>
                <a:latin typeface="Arial"/>
                <a:ea typeface="Arial"/>
                <a:cs typeface="Arial"/>
                <a:sym typeface="Arial"/>
              </a:rPr>
              <a:t>#news  - PageRank: 0.011195, Degree: 83</a:t>
            </a:r>
          </a:p>
          <a:p>
            <a:pPr algn="l" marL="599307" indent="-299653" lvl="1">
              <a:lnSpc>
                <a:spcPts val="3830"/>
              </a:lnSpc>
              <a:buFont typeface="Arial"/>
              <a:buChar char="•"/>
            </a:pPr>
            <a:r>
              <a:rPr lang="en-US" sz="2775">
                <a:solidFill>
                  <a:srgbClr val="000000"/>
                </a:solidFill>
                <a:latin typeface="Arial"/>
                <a:ea typeface="Arial"/>
                <a:cs typeface="Arial"/>
                <a:sym typeface="Arial"/>
              </a:rPr>
              <a:t>Interpretation: Hashtags connected to other important hashtags</a:t>
            </a:r>
          </a:p>
          <a:p>
            <a:pPr algn="l">
              <a:lnSpc>
                <a:spcPts val="3830"/>
              </a:lnSpc>
            </a:pPr>
            <a:r>
              <a:rPr lang="en-US" sz="2775">
                <a:solidFill>
                  <a:srgbClr val="000000"/>
                </a:solidFill>
                <a:latin typeface="Arial"/>
                <a:ea typeface="Arial"/>
                <a:cs typeface="Arial"/>
                <a:sym typeface="Arial"/>
              </a:rPr>
              <a:t>5. Community Detection</a:t>
            </a:r>
          </a:p>
          <a:p>
            <a:pPr algn="l" marL="599307" indent="-299653" lvl="1">
              <a:lnSpc>
                <a:spcPts val="3830"/>
              </a:lnSpc>
              <a:buFont typeface="Arial"/>
              <a:buChar char="•"/>
            </a:pPr>
            <a:r>
              <a:rPr lang="en-US" sz="2775">
                <a:solidFill>
                  <a:srgbClr val="000000"/>
                </a:solidFill>
                <a:latin typeface="Arial"/>
                <a:ea typeface="Arial"/>
                <a:cs typeface="Arial"/>
                <a:sym typeface="Arial"/>
              </a:rPr>
              <a:t>Algorithm: Louvain Method (modularity-based)</a:t>
            </a:r>
          </a:p>
          <a:p>
            <a:pPr algn="l" marL="599307" indent="-299653" lvl="1">
              <a:lnSpc>
                <a:spcPts val="3830"/>
              </a:lnSpc>
              <a:buFont typeface="Arial"/>
              <a:buChar char="•"/>
            </a:pPr>
            <a:r>
              <a:rPr lang="en-US" sz="2775">
                <a:solidFill>
                  <a:srgbClr val="000000"/>
                </a:solidFill>
                <a:latin typeface="Arial"/>
                <a:ea typeface="Arial"/>
                <a:cs typeface="Arial"/>
                <a:sym typeface="Arial"/>
              </a:rPr>
              <a:t>Modularity - 0.904</a:t>
            </a:r>
          </a:p>
          <a:p>
            <a:pPr algn="l" marL="599307" indent="-299653" lvl="1">
              <a:lnSpc>
                <a:spcPts val="3830"/>
              </a:lnSpc>
              <a:buFont typeface="Arial"/>
              <a:buChar char="•"/>
            </a:pPr>
            <a:r>
              <a:rPr lang="en-US" sz="2775">
                <a:solidFill>
                  <a:srgbClr val="000000"/>
                </a:solidFill>
                <a:latin typeface="Arial"/>
                <a:ea typeface="Arial"/>
                <a:cs typeface="Arial"/>
                <a:sym typeface="Arial"/>
              </a:rPr>
              <a:t>Number of Communities - 814</a:t>
            </a:r>
          </a:p>
          <a:p>
            <a:pPr algn="l" marL="599307" indent="-299653" lvl="1">
              <a:lnSpc>
                <a:spcPts val="3830"/>
              </a:lnSpc>
              <a:buFont typeface="Arial"/>
              <a:buChar char="•"/>
            </a:pPr>
            <a:r>
              <a:rPr lang="en-US" sz="2775">
                <a:solidFill>
                  <a:srgbClr val="000000"/>
                </a:solidFill>
                <a:latin typeface="Arial"/>
                <a:ea typeface="Arial"/>
                <a:cs typeface="Arial"/>
                <a:sym typeface="Arial"/>
              </a:rPr>
              <a:t>I</a:t>
            </a:r>
            <a:r>
              <a:rPr lang="en-US" sz="2775">
                <a:solidFill>
                  <a:srgbClr val="000000"/>
                </a:solidFill>
                <a:latin typeface="Arial"/>
                <a:ea typeface="Arial"/>
                <a:cs typeface="Arial"/>
                <a:sym typeface="Arial"/>
              </a:rPr>
              <a:t>n</a:t>
            </a:r>
            <a:r>
              <a:rPr lang="en-US" sz="2775">
                <a:solidFill>
                  <a:srgbClr val="000000"/>
                </a:solidFill>
                <a:latin typeface="Arial"/>
                <a:ea typeface="Arial"/>
                <a:cs typeface="Arial"/>
                <a:sym typeface="Arial"/>
              </a:rPr>
              <a:t>terpret</a:t>
            </a:r>
            <a:r>
              <a:rPr lang="en-US" sz="2775">
                <a:solidFill>
                  <a:srgbClr val="000000"/>
                </a:solidFill>
                <a:latin typeface="Arial"/>
                <a:ea typeface="Arial"/>
                <a:cs typeface="Arial"/>
                <a:sym typeface="Arial"/>
              </a:rPr>
              <a:t>ation</a:t>
            </a:r>
            <a:r>
              <a:rPr lang="en-US" sz="2775">
                <a:solidFill>
                  <a:srgbClr val="000000"/>
                </a:solidFill>
                <a:latin typeface="Arial"/>
                <a:ea typeface="Arial"/>
                <a:cs typeface="Arial"/>
                <a:sym typeface="Arial"/>
              </a:rPr>
              <a:t>: Clusters</a:t>
            </a:r>
            <a:r>
              <a:rPr lang="en-US" sz="2775">
                <a:solidFill>
                  <a:srgbClr val="000000"/>
                </a:solidFill>
                <a:latin typeface="Arial"/>
                <a:ea typeface="Arial"/>
                <a:cs typeface="Arial"/>
                <a:sym typeface="Arial"/>
              </a:rPr>
              <a:t> </a:t>
            </a:r>
            <a:r>
              <a:rPr lang="en-US" sz="2775">
                <a:solidFill>
                  <a:srgbClr val="000000"/>
                </a:solidFill>
                <a:latin typeface="Arial"/>
                <a:ea typeface="Arial"/>
                <a:cs typeface="Arial"/>
                <a:sym typeface="Arial"/>
              </a:rPr>
              <a:t>re</a:t>
            </a:r>
            <a:r>
              <a:rPr lang="en-US" sz="2775">
                <a:solidFill>
                  <a:srgbClr val="000000"/>
                </a:solidFill>
                <a:latin typeface="Arial"/>
                <a:ea typeface="Arial"/>
                <a:cs typeface="Arial"/>
                <a:sym typeface="Arial"/>
              </a:rPr>
              <a:t>pres</a:t>
            </a:r>
            <a:r>
              <a:rPr lang="en-US" sz="2775">
                <a:solidFill>
                  <a:srgbClr val="000000"/>
                </a:solidFill>
                <a:latin typeface="Arial"/>
                <a:ea typeface="Arial"/>
                <a:cs typeface="Arial"/>
                <a:sym typeface="Arial"/>
              </a:rPr>
              <a:t>ent d</a:t>
            </a:r>
            <a:r>
              <a:rPr lang="en-US" sz="2775">
                <a:solidFill>
                  <a:srgbClr val="000000"/>
                </a:solidFill>
                <a:latin typeface="Arial"/>
                <a:ea typeface="Arial"/>
                <a:cs typeface="Arial"/>
                <a:sym typeface="Arial"/>
              </a:rPr>
              <a:t>i</a:t>
            </a:r>
            <a:r>
              <a:rPr lang="en-US" sz="2775">
                <a:solidFill>
                  <a:srgbClr val="000000"/>
                </a:solidFill>
                <a:latin typeface="Arial"/>
                <a:ea typeface="Arial"/>
                <a:cs typeface="Arial"/>
                <a:sym typeface="Arial"/>
              </a:rPr>
              <a:t>ffere</a:t>
            </a:r>
            <a:r>
              <a:rPr lang="en-US" sz="2775">
                <a:solidFill>
                  <a:srgbClr val="000000"/>
                </a:solidFill>
                <a:latin typeface="Arial"/>
                <a:ea typeface="Arial"/>
                <a:cs typeface="Arial"/>
                <a:sym typeface="Arial"/>
              </a:rPr>
              <a:t>n</a:t>
            </a:r>
            <a:r>
              <a:rPr lang="en-US" sz="2775">
                <a:solidFill>
                  <a:srgbClr val="000000"/>
                </a:solidFill>
                <a:latin typeface="Arial"/>
                <a:ea typeface="Arial"/>
                <a:cs typeface="Arial"/>
                <a:sym typeface="Arial"/>
              </a:rPr>
              <a:t>t</a:t>
            </a:r>
            <a:r>
              <a:rPr lang="en-US" sz="2775">
                <a:solidFill>
                  <a:srgbClr val="000000"/>
                </a:solidFill>
                <a:latin typeface="Arial"/>
                <a:ea typeface="Arial"/>
                <a:cs typeface="Arial"/>
                <a:sym typeface="Arial"/>
              </a:rPr>
              <a:t> d</a:t>
            </a:r>
            <a:r>
              <a:rPr lang="en-US" sz="2775">
                <a:solidFill>
                  <a:srgbClr val="000000"/>
                </a:solidFill>
                <a:latin typeface="Arial"/>
                <a:ea typeface="Arial"/>
                <a:cs typeface="Arial"/>
                <a:sym typeface="Arial"/>
              </a:rPr>
              <a:t>is</a:t>
            </a:r>
            <a:r>
              <a:rPr lang="en-US" sz="2775">
                <a:solidFill>
                  <a:srgbClr val="000000"/>
                </a:solidFill>
                <a:latin typeface="Arial"/>
                <a:ea typeface="Arial"/>
                <a:cs typeface="Arial"/>
                <a:sym typeface="Arial"/>
              </a:rPr>
              <a:t>a</a:t>
            </a:r>
            <a:r>
              <a:rPr lang="en-US" sz="2775">
                <a:solidFill>
                  <a:srgbClr val="000000"/>
                </a:solidFill>
                <a:latin typeface="Arial"/>
                <a:ea typeface="Arial"/>
                <a:cs typeface="Arial"/>
                <a:sym typeface="Arial"/>
              </a:rPr>
              <a:t>s</a:t>
            </a:r>
            <a:r>
              <a:rPr lang="en-US" sz="2775">
                <a:solidFill>
                  <a:srgbClr val="000000"/>
                </a:solidFill>
                <a:latin typeface="Arial"/>
                <a:ea typeface="Arial"/>
                <a:cs typeface="Arial"/>
                <a:sym typeface="Arial"/>
              </a:rPr>
              <a:t>t</a:t>
            </a:r>
            <a:r>
              <a:rPr lang="en-US" sz="2775">
                <a:solidFill>
                  <a:srgbClr val="000000"/>
                </a:solidFill>
                <a:latin typeface="Arial"/>
                <a:ea typeface="Arial"/>
                <a:cs typeface="Arial"/>
                <a:sym typeface="Arial"/>
              </a:rPr>
              <a:t>er </a:t>
            </a:r>
            <a:r>
              <a:rPr lang="en-US" sz="2775">
                <a:solidFill>
                  <a:srgbClr val="000000"/>
                </a:solidFill>
                <a:latin typeface="Arial"/>
                <a:ea typeface="Arial"/>
                <a:cs typeface="Arial"/>
                <a:sym typeface="Arial"/>
              </a:rPr>
              <a:t>ty</a:t>
            </a:r>
            <a:r>
              <a:rPr lang="en-US" sz="2775">
                <a:solidFill>
                  <a:srgbClr val="000000"/>
                </a:solidFill>
                <a:latin typeface="Arial"/>
                <a:ea typeface="Arial"/>
                <a:cs typeface="Arial"/>
                <a:sym typeface="Arial"/>
              </a:rPr>
              <a:t>pes</a:t>
            </a:r>
            <a:r>
              <a:rPr lang="en-US" sz="2775">
                <a:solidFill>
                  <a:srgbClr val="000000"/>
                </a:solidFill>
                <a:latin typeface="Arial"/>
                <a:ea typeface="Arial"/>
                <a:cs typeface="Arial"/>
                <a:sym typeface="Arial"/>
              </a:rPr>
              <a:t> or </a:t>
            </a:r>
            <a:r>
              <a:rPr lang="en-US" sz="2775">
                <a:solidFill>
                  <a:srgbClr val="000000"/>
                </a:solidFill>
                <a:latin typeface="Arial"/>
                <a:ea typeface="Arial"/>
                <a:cs typeface="Arial"/>
                <a:sym typeface="Arial"/>
              </a:rPr>
              <a:t>th</a:t>
            </a:r>
            <a:r>
              <a:rPr lang="en-US" sz="2775">
                <a:solidFill>
                  <a:srgbClr val="000000"/>
                </a:solidFill>
                <a:latin typeface="Arial"/>
                <a:ea typeface="Arial"/>
                <a:cs typeface="Arial"/>
                <a:sym typeface="Arial"/>
              </a:rPr>
              <a:t>e</a:t>
            </a:r>
            <a:r>
              <a:rPr lang="en-US" sz="2775">
                <a:solidFill>
                  <a:srgbClr val="000000"/>
                </a:solidFill>
                <a:latin typeface="Arial"/>
                <a:ea typeface="Arial"/>
                <a:cs typeface="Arial"/>
                <a:sym typeface="Arial"/>
              </a:rPr>
              <a:t>m</a:t>
            </a:r>
            <a:r>
              <a:rPr lang="en-US" sz="2775">
                <a:solidFill>
                  <a:srgbClr val="000000"/>
                </a:solidFill>
                <a:latin typeface="Arial"/>
                <a:ea typeface="Arial"/>
                <a:cs typeface="Arial"/>
                <a:sym typeface="Arial"/>
              </a:rPr>
              <a:t>e</a:t>
            </a:r>
            <a:r>
              <a:rPr lang="en-US" sz="2775">
                <a:solidFill>
                  <a:srgbClr val="000000"/>
                </a:solidFill>
                <a:latin typeface="Arial"/>
                <a:ea typeface="Arial"/>
                <a:cs typeface="Arial"/>
                <a:sym typeface="Arial"/>
              </a:rPr>
              <a:t>s</a:t>
            </a:r>
          </a:p>
          <a:p>
            <a:pPr algn="l">
              <a:lnSpc>
                <a:spcPts val="3830"/>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747999" y="446626"/>
            <a:ext cx="10982013" cy="4696874"/>
          </a:xfrm>
          <a:custGeom>
            <a:avLst/>
            <a:gdLst/>
            <a:ahLst/>
            <a:cxnLst/>
            <a:rect r="r" b="b" t="t" l="l"/>
            <a:pathLst>
              <a:path h="4696874" w="10982013">
                <a:moveTo>
                  <a:pt x="0" y="0"/>
                </a:moveTo>
                <a:lnTo>
                  <a:pt x="10982013" y="0"/>
                </a:lnTo>
                <a:lnTo>
                  <a:pt x="10982013" y="4696874"/>
                </a:lnTo>
                <a:lnTo>
                  <a:pt x="0" y="4696874"/>
                </a:lnTo>
                <a:lnTo>
                  <a:pt x="0" y="0"/>
                </a:lnTo>
                <a:close/>
              </a:path>
            </a:pathLst>
          </a:custGeom>
          <a:blipFill>
            <a:blip r:embed="rId3"/>
            <a:stretch>
              <a:fillRect l="-1730" t="-106656" r="0" b="-107178"/>
            </a:stretch>
          </a:blipFill>
        </p:spPr>
      </p:sp>
      <p:sp>
        <p:nvSpPr>
          <p:cNvPr name="Freeform 3" id="3"/>
          <p:cNvSpPr/>
          <p:nvPr/>
        </p:nvSpPr>
        <p:spPr>
          <a:xfrm flipH="false" flipV="false" rot="0">
            <a:off x="3747999" y="5143500"/>
            <a:ext cx="10911257" cy="4926826"/>
          </a:xfrm>
          <a:custGeom>
            <a:avLst/>
            <a:gdLst/>
            <a:ahLst/>
            <a:cxnLst/>
            <a:rect r="r" b="b" t="t" l="l"/>
            <a:pathLst>
              <a:path h="4926826" w="10911257">
                <a:moveTo>
                  <a:pt x="0" y="0"/>
                </a:moveTo>
                <a:lnTo>
                  <a:pt x="10911257" y="0"/>
                </a:lnTo>
                <a:lnTo>
                  <a:pt x="10911257" y="4926826"/>
                </a:lnTo>
                <a:lnTo>
                  <a:pt x="0" y="4926826"/>
                </a:lnTo>
                <a:lnTo>
                  <a:pt x="0" y="0"/>
                </a:lnTo>
                <a:close/>
              </a:path>
            </a:pathLst>
          </a:custGeom>
          <a:blipFill>
            <a:blip r:embed="rId3"/>
            <a:stretch>
              <a:fillRect l="-1741" t="-2374" r="0" b="-194917"/>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7785" y="762297"/>
            <a:ext cx="8264686" cy="5509791"/>
          </a:xfrm>
          <a:custGeom>
            <a:avLst/>
            <a:gdLst/>
            <a:ahLst/>
            <a:cxnLst/>
            <a:rect r="r" b="b" t="t" l="l"/>
            <a:pathLst>
              <a:path h="5509791" w="8264686">
                <a:moveTo>
                  <a:pt x="0" y="0"/>
                </a:moveTo>
                <a:lnTo>
                  <a:pt x="8264686" y="0"/>
                </a:lnTo>
                <a:lnTo>
                  <a:pt x="8264686" y="5509790"/>
                </a:lnTo>
                <a:lnTo>
                  <a:pt x="0" y="5509790"/>
                </a:lnTo>
                <a:lnTo>
                  <a:pt x="0" y="0"/>
                </a:lnTo>
                <a:close/>
              </a:path>
            </a:pathLst>
          </a:custGeom>
          <a:blipFill>
            <a:blip r:embed="rId2"/>
            <a:stretch>
              <a:fillRect l="0" t="0" r="0" b="0"/>
            </a:stretch>
          </a:blipFill>
        </p:spPr>
      </p:sp>
      <p:sp>
        <p:nvSpPr>
          <p:cNvPr name="Freeform 3" id="3"/>
          <p:cNvSpPr/>
          <p:nvPr/>
        </p:nvSpPr>
        <p:spPr>
          <a:xfrm flipH="false" flipV="false" rot="0">
            <a:off x="9357928" y="4613002"/>
            <a:ext cx="8264686" cy="5509791"/>
          </a:xfrm>
          <a:custGeom>
            <a:avLst/>
            <a:gdLst/>
            <a:ahLst/>
            <a:cxnLst/>
            <a:rect r="r" b="b" t="t" l="l"/>
            <a:pathLst>
              <a:path h="5509791" w="8264686">
                <a:moveTo>
                  <a:pt x="0" y="0"/>
                </a:moveTo>
                <a:lnTo>
                  <a:pt x="8264686" y="0"/>
                </a:lnTo>
                <a:lnTo>
                  <a:pt x="8264686" y="5509791"/>
                </a:lnTo>
                <a:lnTo>
                  <a:pt x="0" y="5509791"/>
                </a:lnTo>
                <a:lnTo>
                  <a:pt x="0" y="0"/>
                </a:lnTo>
                <a:close/>
              </a:path>
            </a:pathLst>
          </a:custGeom>
          <a:blipFill>
            <a:blip r:embed="rId3"/>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276" y="151966"/>
            <a:ext cx="15773400" cy="1988400"/>
            <a:chOff x="0" y="0"/>
            <a:chExt cx="21031200" cy="2651200"/>
          </a:xfrm>
        </p:grpSpPr>
        <p:sp>
          <p:nvSpPr>
            <p:cNvPr name="Freeform 3" id="3"/>
            <p:cNvSpPr/>
            <p:nvPr/>
          </p:nvSpPr>
          <p:spPr>
            <a:xfrm flipH="false" flipV="false" rot="0">
              <a:off x="0" y="0"/>
              <a:ext cx="21031200" cy="2651200"/>
            </a:xfrm>
            <a:custGeom>
              <a:avLst/>
              <a:gdLst/>
              <a:ahLst/>
              <a:cxnLst/>
              <a:rect r="r" b="b" t="t" l="l"/>
              <a:pathLst>
                <a:path h="2651200" w="21031200">
                  <a:moveTo>
                    <a:pt x="0" y="0"/>
                  </a:moveTo>
                  <a:lnTo>
                    <a:pt x="21031200" y="0"/>
                  </a:lnTo>
                  <a:lnTo>
                    <a:pt x="21031200" y="2651200"/>
                  </a:lnTo>
                  <a:lnTo>
                    <a:pt x="0" y="2651200"/>
                  </a:lnTo>
                  <a:close/>
                </a:path>
              </a:pathLst>
            </a:custGeom>
            <a:solidFill>
              <a:srgbClr val="000000">
                <a:alpha val="0"/>
              </a:srgbClr>
            </a:solidFill>
          </p:spPr>
        </p:sp>
        <p:sp>
          <p:nvSpPr>
            <p:cNvPr name="TextBox 4" id="4"/>
            <p:cNvSpPr txBox="true"/>
            <p:nvPr/>
          </p:nvSpPr>
          <p:spPr>
            <a:xfrm>
              <a:off x="0" y="57150"/>
              <a:ext cx="21031200" cy="2594050"/>
            </a:xfrm>
            <a:prstGeom prst="rect">
              <a:avLst/>
            </a:prstGeom>
          </p:spPr>
          <p:txBody>
            <a:bodyPr anchor="ctr" rtlCol="false" tIns="0" lIns="0" bIns="0" rIns="0"/>
            <a:lstStyle/>
            <a:p>
              <a:pPr algn="ctr">
                <a:lnSpc>
                  <a:spcPts val="7128"/>
                </a:lnSpc>
              </a:pPr>
              <a:r>
                <a:rPr lang="en-US" sz="6600">
                  <a:solidFill>
                    <a:srgbClr val="000000"/>
                  </a:solidFill>
                  <a:latin typeface="Play"/>
                  <a:ea typeface="Play"/>
                  <a:cs typeface="Play"/>
                  <a:sym typeface="Play"/>
                </a:rPr>
                <a:t>Insights &amp; Interpretation</a:t>
              </a:r>
            </a:p>
            <a:p>
              <a:pPr algn="ctr">
                <a:lnSpc>
                  <a:spcPts val="7128"/>
                </a:lnSpc>
              </a:pPr>
            </a:p>
          </p:txBody>
        </p:sp>
      </p:grpSp>
      <p:grpSp>
        <p:nvGrpSpPr>
          <p:cNvPr name="Group 5" id="5"/>
          <p:cNvGrpSpPr/>
          <p:nvPr/>
        </p:nvGrpSpPr>
        <p:grpSpPr>
          <a:xfrm rot="0">
            <a:off x="1028700" y="-310760"/>
            <a:ext cx="16690767" cy="11730771"/>
            <a:chOff x="0" y="0"/>
            <a:chExt cx="21175955" cy="14883095"/>
          </a:xfrm>
        </p:grpSpPr>
        <p:sp>
          <p:nvSpPr>
            <p:cNvPr name="Freeform 6" id="6"/>
            <p:cNvSpPr/>
            <p:nvPr/>
          </p:nvSpPr>
          <p:spPr>
            <a:xfrm flipH="false" flipV="false" rot="0">
              <a:off x="0" y="0"/>
              <a:ext cx="21175956" cy="14883096"/>
            </a:xfrm>
            <a:custGeom>
              <a:avLst/>
              <a:gdLst/>
              <a:ahLst/>
              <a:cxnLst/>
              <a:rect r="r" b="b" t="t" l="l"/>
              <a:pathLst>
                <a:path h="14883096" w="21175956">
                  <a:moveTo>
                    <a:pt x="0" y="0"/>
                  </a:moveTo>
                  <a:lnTo>
                    <a:pt x="21175956" y="0"/>
                  </a:lnTo>
                  <a:lnTo>
                    <a:pt x="21175956" y="14883096"/>
                  </a:lnTo>
                  <a:lnTo>
                    <a:pt x="0" y="14883096"/>
                  </a:lnTo>
                  <a:close/>
                </a:path>
              </a:pathLst>
            </a:custGeom>
            <a:solidFill>
              <a:srgbClr val="000000">
                <a:alpha val="0"/>
              </a:srgbClr>
            </a:solidFill>
          </p:spPr>
        </p:sp>
        <p:sp>
          <p:nvSpPr>
            <p:cNvPr name="TextBox 7" id="7"/>
            <p:cNvSpPr txBox="true"/>
            <p:nvPr/>
          </p:nvSpPr>
          <p:spPr>
            <a:xfrm>
              <a:off x="0" y="-219075"/>
              <a:ext cx="21175955" cy="15102170"/>
            </a:xfrm>
            <a:prstGeom prst="rect">
              <a:avLst/>
            </a:prstGeom>
          </p:spPr>
          <p:txBody>
            <a:bodyPr anchor="ctr" rtlCol="false" tIns="0" lIns="0" bIns="0" rIns="0"/>
            <a:lstStyle/>
            <a:p>
              <a:pPr algn="just">
                <a:lnSpc>
                  <a:spcPts val="5939"/>
                </a:lnSpc>
              </a:pPr>
              <a:r>
                <a:rPr lang="en-US" b="true" sz="3299">
                  <a:solidFill>
                    <a:srgbClr val="000000"/>
                  </a:solidFill>
                  <a:latin typeface="Arial Bold"/>
                  <a:ea typeface="Arial Bold"/>
                  <a:cs typeface="Arial Bold"/>
                  <a:sym typeface="Arial Bold"/>
                </a:rPr>
                <a:t>KEY</a:t>
              </a:r>
              <a:r>
                <a:rPr lang="en-US" b="true" sz="3299">
                  <a:solidFill>
                    <a:srgbClr val="000000"/>
                  </a:solidFill>
                  <a:latin typeface="Arial Bold"/>
                  <a:ea typeface="Arial Bold"/>
                  <a:cs typeface="Arial Bold"/>
                  <a:sym typeface="Arial Bold"/>
                </a:rPr>
                <a:t> FINDINGS:</a:t>
              </a:r>
            </a:p>
            <a:p>
              <a:pPr algn="just" marL="561341" indent="-280670" lvl="1">
                <a:lnSpc>
                  <a:spcPts val="4680"/>
                </a:lnSpc>
                <a:buFont typeface="Arial"/>
                <a:buChar char="•"/>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T</a:t>
              </a:r>
              <a:r>
                <a:rPr lang="en-US" sz="2600">
                  <a:solidFill>
                    <a:srgbClr val="000000"/>
                  </a:solidFill>
                  <a:latin typeface="Arial"/>
                  <a:ea typeface="Arial"/>
                  <a:cs typeface="Arial"/>
                  <a:sym typeface="Arial"/>
                </a:rPr>
                <a:t>ota</a:t>
              </a:r>
              <a:r>
                <a:rPr lang="en-US" sz="2600">
                  <a:solidFill>
                    <a:srgbClr val="000000"/>
                  </a:solidFill>
                  <a:latin typeface="Arial"/>
                  <a:ea typeface="Arial"/>
                  <a:cs typeface="Arial"/>
                  <a:sym typeface="Arial"/>
                </a:rPr>
                <a:t>l Node</a:t>
              </a:r>
              <a:r>
                <a:rPr lang="en-US" sz="2600">
                  <a:solidFill>
                    <a:srgbClr val="000000"/>
                  </a:solidFill>
                  <a:latin typeface="Arial"/>
                  <a:ea typeface="Arial"/>
                  <a:cs typeface="Arial"/>
                  <a:sym typeface="Arial"/>
                </a:rPr>
                <a:t>s</a:t>
              </a:r>
              <a:r>
                <a:rPr lang="en-US" sz="2600">
                  <a:solidFill>
                    <a:srgbClr val="000000"/>
                  </a:solidFill>
                  <a:latin typeface="Arial"/>
                  <a:ea typeface="Arial"/>
                  <a:cs typeface="Arial"/>
                  <a:sym typeface="Arial"/>
                </a:rPr>
                <a:t>: 1926</a:t>
              </a:r>
            </a:p>
            <a:p>
              <a:pPr algn="just" marL="561341" indent="-280670" lvl="1">
                <a:lnSpc>
                  <a:spcPts val="4680"/>
                </a:lnSpc>
                <a:buFont typeface="Arial"/>
                <a:buChar char="•"/>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Total Edges: 2492</a:t>
              </a:r>
            </a:p>
            <a:p>
              <a:pPr algn="just" marL="561340" indent="-280670" lvl="1">
                <a:lnSpc>
                  <a:spcPts val="4680"/>
                </a:lnSpc>
                <a:buFont typeface="Arial"/>
                <a:buChar char="•"/>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Network Density: 0.0013</a:t>
              </a:r>
            </a:p>
            <a:p>
              <a:pPr algn="just" marL="561340" indent="-280670" lvl="1">
                <a:lnSpc>
                  <a:spcPts val="4680"/>
                </a:lnSpc>
                <a:buFont typeface="Arial"/>
                <a:buChar char="•"/>
              </a:pPr>
              <a:r>
                <a:rPr lang="en-US" sz="2600">
                  <a:solidFill>
                    <a:srgbClr val="000000"/>
                  </a:solidFill>
                  <a:latin typeface="Arial"/>
                  <a:ea typeface="Arial"/>
                  <a:cs typeface="Arial"/>
                  <a:sym typeface="Arial"/>
                </a:rPr>
                <a:t> Ave</a:t>
              </a:r>
              <a:r>
                <a:rPr lang="en-US" sz="2600">
                  <a:solidFill>
                    <a:srgbClr val="000000"/>
                  </a:solidFill>
                  <a:latin typeface="Arial"/>
                  <a:ea typeface="Arial"/>
                  <a:cs typeface="Arial"/>
                  <a:sym typeface="Arial"/>
                </a:rPr>
                <a:t>r</a:t>
              </a:r>
              <a:r>
                <a:rPr lang="en-US" sz="2600">
                  <a:solidFill>
                    <a:srgbClr val="000000"/>
                  </a:solidFill>
                  <a:latin typeface="Arial"/>
                  <a:ea typeface="Arial"/>
                  <a:cs typeface="Arial"/>
                  <a:sym typeface="Arial"/>
                </a:rPr>
                <a:t>age Degree: 2.59</a:t>
              </a:r>
            </a:p>
            <a:p>
              <a:pPr algn="just" marL="561341" indent="-280670" lvl="1">
                <a:lnSpc>
                  <a:spcPts val="4680"/>
                </a:lnSpc>
                <a:buFont typeface="Arial"/>
                <a:buChar char="•"/>
              </a:pPr>
              <a:r>
                <a:rPr lang="en-US" sz="2600">
                  <a:solidFill>
                    <a:srgbClr val="000000"/>
                  </a:solidFill>
                  <a:latin typeface="Arial"/>
                  <a:ea typeface="Arial"/>
                  <a:cs typeface="Arial"/>
                  <a:sym typeface="Arial"/>
                </a:rPr>
                <a:t> N</a:t>
              </a:r>
              <a:r>
                <a:rPr lang="en-US" sz="2600">
                  <a:solidFill>
                    <a:srgbClr val="000000"/>
                  </a:solidFill>
                  <a:latin typeface="Arial"/>
                  <a:ea typeface="Arial"/>
                  <a:cs typeface="Arial"/>
                  <a:sym typeface="Arial"/>
                </a:rPr>
                <a:t>umber of </a:t>
              </a:r>
              <a:r>
                <a:rPr lang="en-US" sz="2600">
                  <a:solidFill>
                    <a:srgbClr val="000000"/>
                  </a:solidFill>
                  <a:latin typeface="Arial"/>
                  <a:ea typeface="Arial"/>
                  <a:cs typeface="Arial"/>
                  <a:sym typeface="Arial"/>
                </a:rPr>
                <a:t>C</a:t>
              </a:r>
              <a:r>
                <a:rPr lang="en-US" sz="2600">
                  <a:solidFill>
                    <a:srgbClr val="000000"/>
                  </a:solidFill>
                  <a:latin typeface="Arial"/>
                  <a:ea typeface="Arial"/>
                  <a:cs typeface="Arial"/>
                  <a:sym typeface="Arial"/>
                </a:rPr>
                <a:t>om</a:t>
              </a:r>
              <a:r>
                <a:rPr lang="en-US" sz="2600">
                  <a:solidFill>
                    <a:srgbClr val="000000"/>
                  </a:solidFill>
                  <a:latin typeface="Arial"/>
                  <a:ea typeface="Arial"/>
                  <a:cs typeface="Arial"/>
                  <a:sym typeface="Arial"/>
                </a:rPr>
                <a:t>mu</a:t>
              </a:r>
              <a:r>
                <a:rPr lang="en-US" sz="2600">
                  <a:solidFill>
                    <a:srgbClr val="000000"/>
                  </a:solidFill>
                  <a:latin typeface="Arial"/>
                  <a:ea typeface="Arial"/>
                  <a:cs typeface="Arial"/>
                  <a:sym typeface="Arial"/>
                </a:rPr>
                <a:t>n</a:t>
              </a:r>
              <a:r>
                <a:rPr lang="en-US" sz="2600">
                  <a:solidFill>
                    <a:srgbClr val="000000"/>
                  </a:solidFill>
                  <a:latin typeface="Arial"/>
                  <a:ea typeface="Arial"/>
                  <a:cs typeface="Arial"/>
                  <a:sym typeface="Arial"/>
                </a:rPr>
                <a:t>i</a:t>
              </a:r>
              <a:r>
                <a:rPr lang="en-US" sz="2600">
                  <a:solidFill>
                    <a:srgbClr val="000000"/>
                  </a:solidFill>
                  <a:latin typeface="Arial"/>
                  <a:ea typeface="Arial"/>
                  <a:cs typeface="Arial"/>
                  <a:sym typeface="Arial"/>
                </a:rPr>
                <a:t>t</a:t>
              </a:r>
              <a:r>
                <a:rPr lang="en-US" sz="2600">
                  <a:solidFill>
                    <a:srgbClr val="000000"/>
                  </a:solidFill>
                  <a:latin typeface="Arial"/>
                  <a:ea typeface="Arial"/>
                  <a:cs typeface="Arial"/>
                  <a:sym typeface="Arial"/>
                </a:rPr>
                <a:t>i</a:t>
              </a:r>
              <a:r>
                <a:rPr lang="en-US" sz="2600">
                  <a:solidFill>
                    <a:srgbClr val="000000"/>
                  </a:solidFill>
                  <a:latin typeface="Arial"/>
                  <a:ea typeface="Arial"/>
                  <a:cs typeface="Arial"/>
                  <a:sym typeface="Arial"/>
                </a:rPr>
                <a:t>e</a:t>
              </a:r>
              <a:r>
                <a:rPr lang="en-US" sz="2600">
                  <a:solidFill>
                    <a:srgbClr val="000000"/>
                  </a:solidFill>
                  <a:latin typeface="Arial"/>
                  <a:ea typeface="Arial"/>
                  <a:cs typeface="Arial"/>
                  <a:sym typeface="Arial"/>
                </a:rPr>
                <a:t>s:</a:t>
              </a: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811</a:t>
              </a:r>
            </a:p>
            <a:p>
              <a:pPr algn="just" marL="561341" indent="-280670" lvl="1">
                <a:lnSpc>
                  <a:spcPts val="4680"/>
                </a:lnSpc>
                <a:buFont typeface="Arial"/>
                <a:buChar char="•"/>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Clustering Coefficie</a:t>
              </a:r>
              <a:r>
                <a:rPr lang="en-US" sz="2600">
                  <a:solidFill>
                    <a:srgbClr val="000000"/>
                  </a:solidFill>
                  <a:latin typeface="Arial"/>
                  <a:ea typeface="Arial"/>
                  <a:cs typeface="Arial"/>
                  <a:sym typeface="Arial"/>
                </a:rPr>
                <a:t>nt</a:t>
              </a:r>
              <a:r>
                <a:rPr lang="en-US" sz="2600">
                  <a:solidFill>
                    <a:srgbClr val="000000"/>
                  </a:solidFill>
                  <a:latin typeface="Arial"/>
                  <a:ea typeface="Arial"/>
                  <a:cs typeface="Arial"/>
                  <a:sym typeface="Arial"/>
                </a:rPr>
                <a:t>:</a:t>
              </a: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0.4340</a:t>
              </a:r>
            </a:p>
            <a:p>
              <a:pPr algn="just" marL="561340" indent="-280670" lvl="1">
                <a:lnSpc>
                  <a:spcPts val="4680"/>
                </a:lnSpc>
                <a:buFont typeface="Arial"/>
                <a:buChar char="•"/>
              </a:pPr>
              <a:r>
                <a:rPr lang="en-US" sz="2600">
                  <a:solidFill>
                    <a:srgbClr val="000000"/>
                  </a:solidFill>
                  <a:latin typeface="Arial"/>
                  <a:ea typeface="Arial"/>
                  <a:cs typeface="Arial"/>
                  <a:sym typeface="Arial"/>
                </a:rPr>
                <a:t> Disaster-related Hashta</a:t>
              </a:r>
              <a:r>
                <a:rPr lang="en-US" sz="2600">
                  <a:solidFill>
                    <a:srgbClr val="000000"/>
                  </a:solidFill>
                  <a:latin typeface="Arial"/>
                  <a:ea typeface="Arial"/>
                  <a:cs typeface="Arial"/>
                  <a:sym typeface="Arial"/>
                </a:rPr>
                <a:t>gs </a:t>
              </a:r>
              <a:r>
                <a:rPr lang="en-US" sz="2600">
                  <a:solidFill>
                    <a:srgbClr val="000000"/>
                  </a:solidFill>
                  <a:latin typeface="Arial"/>
                  <a:ea typeface="Arial"/>
                  <a:cs typeface="Arial"/>
                  <a:sym typeface="Arial"/>
                </a:rPr>
                <a:t>(≥80%): 796</a:t>
              </a:r>
            </a:p>
            <a:p>
              <a:pPr algn="just" marL="561341" indent="-280670" lvl="1">
                <a:lnSpc>
                  <a:spcPts val="4680"/>
                </a:lnSpc>
                <a:buFont typeface="Arial"/>
                <a:buChar char="•"/>
              </a:pPr>
              <a:r>
                <a:rPr lang="en-US" sz="2600">
                  <a:solidFill>
                    <a:srgbClr val="000000"/>
                  </a:solidFill>
                  <a:latin typeface="Arial"/>
                  <a:ea typeface="Arial"/>
                  <a:cs typeface="Arial"/>
                  <a:sym typeface="Arial"/>
                </a:rPr>
                <a:t> Non-disaster Hashtags (&lt;20%): 953</a:t>
              </a:r>
            </a:p>
            <a:p>
              <a:pPr algn="just">
                <a:lnSpc>
                  <a:spcPts val="4680"/>
                </a:lnSpc>
              </a:pPr>
              <a:r>
                <a:rPr lang="en-US" sz="2600">
                  <a:solidFill>
                    <a:srgbClr val="000000"/>
                  </a:solidFill>
                  <a:latin typeface="Arial"/>
                  <a:ea typeface="Arial"/>
                  <a:cs typeface="Arial"/>
                  <a:sym typeface="Arial"/>
                </a:rPr>
                <a:t>The hashtag network contains 1926 nodes and 2492 edges, forming a large but very sparse structure with a low density of 0.0013. This means that </a:t>
              </a:r>
              <a:r>
                <a:rPr lang="en-US" b="true" sz="2600">
                  <a:solidFill>
                    <a:srgbClr val="000000"/>
                  </a:solidFill>
                  <a:latin typeface="Arial Bold"/>
                  <a:ea typeface="Arial Bold"/>
                  <a:cs typeface="Arial Bold"/>
                  <a:sym typeface="Arial Bold"/>
                </a:rPr>
                <a:t>most hashtags rarely appear together</a:t>
              </a:r>
              <a:r>
                <a:rPr lang="en-US" sz="2600">
                  <a:solidFill>
                    <a:srgbClr val="000000"/>
                  </a:solidFill>
                  <a:latin typeface="Arial"/>
                  <a:ea typeface="Arial"/>
                  <a:cs typeface="Arial"/>
                  <a:sym typeface="Arial"/>
                </a:rPr>
                <a:t>, and on average, each hashtag </a:t>
              </a:r>
              <a:r>
                <a:rPr lang="en-US" b="true" sz="2600">
                  <a:solidFill>
                    <a:srgbClr val="000000"/>
                  </a:solidFill>
                  <a:latin typeface="Arial Bold"/>
                  <a:ea typeface="Arial Bold"/>
                  <a:cs typeface="Arial Bold"/>
                  <a:sym typeface="Arial Bold"/>
                </a:rPr>
                <a:t>connects to only about 2–3 others</a:t>
              </a:r>
              <a:r>
                <a:rPr lang="en-US" sz="2600">
                  <a:solidFill>
                    <a:srgbClr val="000000"/>
                  </a:solidFill>
                  <a:latin typeface="Arial"/>
                  <a:ea typeface="Arial"/>
                  <a:cs typeface="Arial"/>
                  <a:sym typeface="Arial"/>
                </a:rPr>
                <a:t>. The network also contains 811 separate communities, showing that </a:t>
              </a:r>
              <a:r>
                <a:rPr lang="en-US" b="true" sz="2600">
                  <a:solidFill>
                    <a:srgbClr val="000000"/>
                  </a:solidFill>
                  <a:latin typeface="Arial Bold"/>
                  <a:ea typeface="Arial Bold"/>
                  <a:cs typeface="Arial Bold"/>
                  <a:sym typeface="Arial Bold"/>
                </a:rPr>
                <a:t>conversations are highly fragmented into many small topic clusters</a:t>
              </a:r>
              <a:r>
                <a:rPr lang="en-US" sz="2600">
                  <a:solidFill>
                    <a:srgbClr val="000000"/>
                  </a:solidFill>
                  <a:latin typeface="Arial"/>
                  <a:ea typeface="Arial"/>
                  <a:cs typeface="Arial"/>
                  <a:sym typeface="Arial"/>
                </a:rPr>
                <a:t>. Despite the sparsity, the clustering coefficient of 0.4340 indicates that when hashtags do co-occur, they tend to </a:t>
              </a:r>
              <a:r>
                <a:rPr lang="en-US" b="true" sz="2600">
                  <a:solidFill>
                    <a:srgbClr val="000000"/>
                  </a:solidFill>
                  <a:latin typeface="Arial Bold"/>
                  <a:ea typeface="Arial Bold"/>
                  <a:cs typeface="Arial Bold"/>
                  <a:sym typeface="Arial Bold"/>
                </a:rPr>
                <a:t>form tight local groups</a:t>
              </a:r>
              <a:r>
                <a:rPr lang="en-US" sz="2600">
                  <a:solidFill>
                    <a:srgbClr val="000000"/>
                  </a:solidFill>
                  <a:latin typeface="Arial"/>
                  <a:ea typeface="Arial"/>
                  <a:cs typeface="Arial"/>
                  <a:sym typeface="Arial"/>
                </a:rPr>
                <a:t>.</a:t>
              </a:r>
            </a:p>
          </p:txBody>
        </p:sp>
      </p:grpSp>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43120" y="266137"/>
            <a:ext cx="17473054" cy="9765614"/>
            <a:chOff x="0" y="0"/>
            <a:chExt cx="23297406" cy="13020819"/>
          </a:xfrm>
        </p:grpSpPr>
        <p:sp>
          <p:nvSpPr>
            <p:cNvPr name="Freeform 3" id="3"/>
            <p:cNvSpPr/>
            <p:nvPr/>
          </p:nvSpPr>
          <p:spPr>
            <a:xfrm flipH="false" flipV="false" rot="0">
              <a:off x="0" y="0"/>
              <a:ext cx="23297406" cy="13020819"/>
            </a:xfrm>
            <a:custGeom>
              <a:avLst/>
              <a:gdLst/>
              <a:ahLst/>
              <a:cxnLst/>
              <a:rect r="r" b="b" t="t" l="l"/>
              <a:pathLst>
                <a:path h="13020819" w="23297406">
                  <a:moveTo>
                    <a:pt x="0" y="0"/>
                  </a:moveTo>
                  <a:lnTo>
                    <a:pt x="23297406" y="0"/>
                  </a:lnTo>
                  <a:lnTo>
                    <a:pt x="23297406" y="13020819"/>
                  </a:lnTo>
                  <a:lnTo>
                    <a:pt x="0" y="13020819"/>
                  </a:lnTo>
                  <a:close/>
                </a:path>
              </a:pathLst>
            </a:custGeom>
            <a:solidFill>
              <a:srgbClr val="000000">
                <a:alpha val="0"/>
              </a:srgbClr>
            </a:solidFill>
          </p:spPr>
        </p:sp>
        <p:sp>
          <p:nvSpPr>
            <p:cNvPr name="TextBox 4" id="4"/>
            <p:cNvSpPr txBox="true"/>
            <p:nvPr/>
          </p:nvSpPr>
          <p:spPr>
            <a:xfrm>
              <a:off x="0" y="-180975"/>
              <a:ext cx="23297406" cy="13201794"/>
            </a:xfrm>
            <a:prstGeom prst="rect">
              <a:avLst/>
            </a:prstGeom>
          </p:spPr>
          <p:txBody>
            <a:bodyPr anchor="ctr" rtlCol="false" tIns="0" lIns="0" bIns="0" rIns="0"/>
            <a:lstStyle/>
            <a:p>
              <a:pPr algn="just">
                <a:lnSpc>
                  <a:spcPts val="5219"/>
                </a:lnSpc>
              </a:pPr>
              <a:r>
                <a:rPr lang="en-US" b="true" sz="2899">
                  <a:solidFill>
                    <a:srgbClr val="000000"/>
                  </a:solidFill>
                  <a:latin typeface="Arial Bold"/>
                  <a:ea typeface="Arial Bold"/>
                  <a:cs typeface="Arial Bold"/>
                  <a:sym typeface="Arial Bold"/>
                </a:rPr>
                <a:t>TOP 10 NODES BY DEGREE </a:t>
              </a:r>
            </a:p>
            <a:p>
              <a:pPr algn="just">
                <a:lnSpc>
                  <a:spcPts val="4680"/>
                </a:lnSpc>
              </a:pPr>
              <a:r>
                <a:rPr lang="en-US" b="true" sz="2600">
                  <a:solidFill>
                    <a:srgbClr val="000000"/>
                  </a:solidFill>
                  <a:latin typeface="Arial Bold"/>
                  <a:ea typeface="Arial Bold"/>
                  <a:cs typeface="Arial Bold"/>
                  <a:sym typeface="Arial Bold"/>
                </a:rPr>
                <a:t>   Label       Degree        PageRank</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#new</a:t>
              </a:r>
              <a:r>
                <a:rPr lang="en-US" sz="2600">
                  <a:solidFill>
                    <a:srgbClr val="000000"/>
                  </a:solidFill>
                  <a:latin typeface="Arial"/>
                  <a:ea typeface="Arial"/>
                  <a:cs typeface="Arial"/>
                  <a:sym typeface="Arial"/>
                </a:rPr>
                <a:t>s        </a:t>
              </a:r>
              <a:r>
                <a:rPr lang="en-US" sz="2600">
                  <a:solidFill>
                    <a:srgbClr val="000000"/>
                  </a:solidFill>
                  <a:latin typeface="Arial"/>
                  <a:ea typeface="Arial"/>
                  <a:cs typeface="Arial"/>
                  <a:sym typeface="Arial"/>
                </a:rPr>
                <a:t>83             0.011195</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#usa           29             0.002432</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#nuclear     26             0.003021</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#uk           24             0.001909</a:t>
              </a:r>
            </a:p>
            <a:p>
              <a:pPr algn="just">
                <a:lnSpc>
                  <a:spcPts val="4680"/>
                </a:lnSpc>
              </a:pPr>
              <a:r>
                <a:rPr lang="en-US" sz="2600">
                  <a:solidFill>
                    <a:srgbClr val="000000"/>
                  </a:solidFill>
                  <a:latin typeface="Arial"/>
                  <a:ea typeface="Arial"/>
                  <a:cs typeface="Arial"/>
                  <a:sym typeface="Arial"/>
                </a:rPr>
                <a:t>    #jobs        23             0.003374</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#africa      23             0.002071</a:t>
              </a:r>
            </a:p>
            <a:p>
              <a:pPr algn="just">
                <a:lnSpc>
                  <a:spcPts val="4680"/>
                </a:lnSpc>
              </a:pPr>
              <a:r>
                <a:rPr lang="en-US" sz="2600">
                  <a:solidFill>
                    <a:srgbClr val="000000"/>
                  </a:solidFill>
                  <a:latin typeface="Arial"/>
                  <a:ea typeface="Arial"/>
                  <a:cs typeface="Arial"/>
                  <a:sym typeface="Arial"/>
                </a:rPr>
                <a:t>    #japan      22             0.002713</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#bbc        21             0.003102 </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#india       20             0.002339</a:t>
              </a:r>
            </a:p>
            <a:p>
              <a:pPr algn="just">
                <a:lnSpc>
                  <a:spcPts val="4680"/>
                </a:lnSpc>
              </a:pPr>
              <a:r>
                <a:rPr lang="en-US" sz="2600">
                  <a:solidFill>
                    <a:srgbClr val="000000"/>
                  </a:solidFill>
                  <a:latin typeface="Arial"/>
                  <a:ea typeface="Arial"/>
                  <a:cs typeface="Arial"/>
                  <a:sym typeface="Arial"/>
                </a:rPr>
                <a:t>    </a:t>
              </a:r>
              <a:r>
                <a:rPr lang="en-US" sz="2600">
                  <a:solidFill>
                    <a:srgbClr val="000000"/>
                  </a:solidFill>
                  <a:latin typeface="Arial"/>
                  <a:ea typeface="Arial"/>
                  <a:cs typeface="Arial"/>
                  <a:sym typeface="Arial"/>
                </a:rPr>
                <a:t>#disaster   20            0.002329</a:t>
              </a:r>
            </a:p>
            <a:p>
              <a:pPr algn="just">
                <a:lnSpc>
                  <a:spcPts val="4680"/>
                </a:lnSpc>
              </a:pPr>
              <a:r>
                <a:rPr lang="en-US" sz="2600">
                  <a:solidFill>
                    <a:srgbClr val="000000"/>
                  </a:solidFill>
                  <a:latin typeface="Arial"/>
                  <a:ea typeface="Arial"/>
                  <a:cs typeface="Arial"/>
                  <a:sym typeface="Arial"/>
                </a:rPr>
                <a:t>In terms of content distribution, 796 hashtags are strongly associated with disaster-related tweets, while 953 are primarily non-disaster.This balance highlights the presence of both categories and suggests that network-based features can meaningfully support disaster classification tasks.</a:t>
              </a:r>
            </a:p>
          </p:txBody>
        </p:sp>
      </p:gr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76459" y="1047750"/>
            <a:ext cx="17735081" cy="7894805"/>
          </a:xfrm>
          <a:prstGeom prst="rect">
            <a:avLst/>
          </a:prstGeom>
        </p:spPr>
        <p:txBody>
          <a:bodyPr anchor="t" rtlCol="false" tIns="0" lIns="0" bIns="0" rIns="0">
            <a:spAutoFit/>
          </a:bodyPr>
          <a:lstStyle/>
          <a:p>
            <a:pPr algn="just">
              <a:lnSpc>
                <a:spcPts val="4060"/>
              </a:lnSpc>
              <a:spcBef>
                <a:spcPct val="0"/>
              </a:spcBef>
            </a:pPr>
            <a:r>
              <a:rPr lang="en-US" sz="3760">
                <a:solidFill>
                  <a:srgbClr val="000000"/>
                </a:solidFill>
                <a:latin typeface="Arial"/>
                <a:ea typeface="Arial"/>
                <a:cs typeface="Arial"/>
                <a:sym typeface="Arial"/>
              </a:rPr>
              <a:t>TOP 5 MOST INFLUENTIAL HASHTAGS (by PageRank):</a:t>
            </a:r>
          </a:p>
          <a:p>
            <a:pPr algn="just">
              <a:lnSpc>
                <a:spcPts val="4060"/>
              </a:lnSpc>
              <a:spcBef>
                <a:spcPct val="0"/>
              </a:spcBef>
            </a:pPr>
          </a:p>
          <a:p>
            <a:pPr algn="just">
              <a:lnSpc>
                <a:spcPts val="4507"/>
              </a:lnSpc>
              <a:spcBef>
                <a:spcPct val="0"/>
              </a:spcBef>
            </a:pPr>
            <a:r>
              <a:rPr lang="en-US" sz="4173">
                <a:solidFill>
                  <a:srgbClr val="000000"/>
                </a:solidFill>
                <a:latin typeface="Arial"/>
                <a:ea typeface="Arial"/>
                <a:cs typeface="Arial"/>
                <a:sym typeface="Arial"/>
              </a:rPr>
              <a:t>   #news        - PageRank: 0.011195,  Degree: 83</a:t>
            </a:r>
          </a:p>
          <a:p>
            <a:pPr algn="just">
              <a:lnSpc>
                <a:spcPts val="4507"/>
              </a:lnSpc>
              <a:spcBef>
                <a:spcPct val="0"/>
              </a:spcBef>
            </a:pPr>
            <a:r>
              <a:rPr lang="en-US" sz="4173">
                <a:solidFill>
                  <a:srgbClr val="000000"/>
                </a:solidFill>
                <a:latin typeface="Arial"/>
                <a:ea typeface="Arial"/>
                <a:cs typeface="Arial"/>
                <a:sym typeface="Arial"/>
              </a:rPr>
              <a:t>   #jobs          - PageRank: 0.003374, Degree: 23</a:t>
            </a:r>
          </a:p>
          <a:p>
            <a:pPr algn="just">
              <a:lnSpc>
                <a:spcPts val="4507"/>
              </a:lnSpc>
              <a:spcBef>
                <a:spcPct val="0"/>
              </a:spcBef>
            </a:pPr>
            <a:r>
              <a:rPr lang="en-US" sz="4173">
                <a:solidFill>
                  <a:srgbClr val="000000"/>
                </a:solidFill>
                <a:latin typeface="Arial"/>
                <a:ea typeface="Arial"/>
                <a:cs typeface="Arial"/>
                <a:sym typeface="Arial"/>
              </a:rPr>
              <a:t>   #terrorism  - PageRank: 0.003345, Degree: 20</a:t>
            </a:r>
          </a:p>
          <a:p>
            <a:pPr algn="just">
              <a:lnSpc>
                <a:spcPts val="4507"/>
              </a:lnSpc>
              <a:spcBef>
                <a:spcPct val="0"/>
              </a:spcBef>
            </a:pPr>
            <a:r>
              <a:rPr lang="en-US" sz="4173">
                <a:solidFill>
                  <a:srgbClr val="000000"/>
                </a:solidFill>
                <a:latin typeface="Arial"/>
                <a:ea typeface="Arial"/>
                <a:cs typeface="Arial"/>
                <a:sym typeface="Arial"/>
              </a:rPr>
              <a:t>   #islam        - PageRank: 0.003342, Degree: 20</a:t>
            </a:r>
          </a:p>
          <a:p>
            <a:pPr algn="just">
              <a:lnSpc>
                <a:spcPts val="4507"/>
              </a:lnSpc>
              <a:spcBef>
                <a:spcPct val="0"/>
              </a:spcBef>
            </a:pPr>
            <a:r>
              <a:rPr lang="en-US" sz="4173">
                <a:solidFill>
                  <a:srgbClr val="000000"/>
                </a:solidFill>
                <a:latin typeface="Arial"/>
                <a:ea typeface="Arial"/>
                <a:cs typeface="Arial"/>
                <a:sym typeface="Arial"/>
              </a:rPr>
              <a:t>   #bbc           - PageRank: 0.003102, Degree: 21</a:t>
            </a:r>
          </a:p>
          <a:p>
            <a:pPr algn="just">
              <a:lnSpc>
                <a:spcPts val="4507"/>
              </a:lnSpc>
              <a:spcBef>
                <a:spcPct val="0"/>
              </a:spcBef>
            </a:pPr>
          </a:p>
          <a:p>
            <a:pPr algn="just" marL="767191" indent="-383595" lvl="1">
              <a:lnSpc>
                <a:spcPts val="3837"/>
              </a:lnSpc>
              <a:buFont typeface="Arial"/>
              <a:buChar char="•"/>
            </a:pPr>
            <a:r>
              <a:rPr lang="en-US" sz="3553">
                <a:solidFill>
                  <a:srgbClr val="000000"/>
                </a:solidFill>
                <a:latin typeface="Arial"/>
                <a:ea typeface="Arial"/>
                <a:cs typeface="Arial"/>
                <a:sym typeface="Arial"/>
              </a:rPr>
              <a:t>Among all hashtags,#news emerges as the dominant hub, having the highest degree (83) and the highest PageRank score. </a:t>
            </a:r>
          </a:p>
          <a:p>
            <a:pPr algn="just" marL="767191" indent="-383595" lvl="1">
              <a:lnSpc>
                <a:spcPts val="3837"/>
              </a:lnSpc>
              <a:buFont typeface="Arial"/>
              <a:buChar char="•"/>
            </a:pPr>
            <a:r>
              <a:rPr lang="en-US" sz="3553">
                <a:solidFill>
                  <a:srgbClr val="000000"/>
                </a:solidFill>
                <a:latin typeface="Arial"/>
                <a:ea typeface="Arial"/>
                <a:cs typeface="Arial"/>
                <a:sym typeface="Arial"/>
              </a:rPr>
              <a:t>Other widely connected hashtags include #usa, #uk, #jobs, #africa, and #india, which appear across diverse topics. </a:t>
            </a:r>
          </a:p>
          <a:p>
            <a:pPr algn="just" marL="767191" indent="-383595" lvl="1">
              <a:lnSpc>
                <a:spcPts val="3837"/>
              </a:lnSpc>
              <a:buFont typeface="Arial"/>
              <a:buChar char="•"/>
            </a:pPr>
            <a:r>
              <a:rPr lang="en-US" sz="3553">
                <a:solidFill>
                  <a:srgbClr val="000000"/>
                </a:solidFill>
                <a:latin typeface="Arial"/>
                <a:ea typeface="Arial"/>
                <a:cs typeface="Arial"/>
                <a:sym typeface="Arial"/>
              </a:rPr>
              <a:t>When looking at influence, the top hashtags by PageRank are #news, #jobs, #terrorism, #islam, and #bbc—indicating that they play a crucial bridging role across different communities.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815283" y="0"/>
            <a:ext cx="16119617" cy="10287000"/>
          </a:xfrm>
          <a:custGeom>
            <a:avLst/>
            <a:gdLst/>
            <a:ahLst/>
            <a:cxnLst/>
            <a:rect r="r" b="b" t="t" l="l"/>
            <a:pathLst>
              <a:path h="10287000" w="16119617">
                <a:moveTo>
                  <a:pt x="0" y="0"/>
                </a:moveTo>
                <a:lnTo>
                  <a:pt x="16119617" y="0"/>
                </a:lnTo>
                <a:lnTo>
                  <a:pt x="16119617" y="10287000"/>
                </a:lnTo>
                <a:lnTo>
                  <a:pt x="0" y="10287000"/>
                </a:lnTo>
                <a:lnTo>
                  <a:pt x="0" y="0"/>
                </a:lnTo>
                <a:close/>
              </a:path>
            </a:pathLst>
          </a:custGeom>
          <a:blipFill>
            <a:blip r:embed="rId3"/>
            <a:stretch>
              <a:fillRect l="0" t="-819" r="-688" b="-10"/>
            </a:stretch>
          </a:blipFill>
        </p:spPr>
      </p:sp>
      <p:sp>
        <p:nvSpPr>
          <p:cNvPr name="TextBox 3" id="3"/>
          <p:cNvSpPr txBox="true"/>
          <p:nvPr/>
        </p:nvSpPr>
        <p:spPr>
          <a:xfrm rot="0">
            <a:off x="247528" y="9060370"/>
            <a:ext cx="3445388" cy="1226630"/>
          </a:xfrm>
          <a:prstGeom prst="rect">
            <a:avLst/>
          </a:prstGeom>
        </p:spPr>
        <p:txBody>
          <a:bodyPr anchor="t" rtlCol="false" tIns="0" lIns="0" bIns="0" rIns="0">
            <a:spAutoFit/>
          </a:bodyPr>
          <a:lstStyle/>
          <a:p>
            <a:pPr algn="l">
              <a:lnSpc>
                <a:spcPts val="4840"/>
              </a:lnSpc>
            </a:pPr>
            <a:r>
              <a:rPr lang="en-US" b="true" sz="4033">
                <a:solidFill>
                  <a:srgbClr val="000000"/>
                </a:solidFill>
                <a:latin typeface="Arial Bold"/>
                <a:ea typeface="Arial Bold"/>
                <a:cs typeface="Arial Bold"/>
                <a:sym typeface="Arial Bold"/>
              </a:rPr>
              <a:t>Insights &amp; Interpretation </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257300" y="547688"/>
            <a:ext cx="15773400" cy="1988344"/>
            <a:chOff x="0" y="0"/>
            <a:chExt cx="21031200" cy="2651125"/>
          </a:xfrm>
        </p:grpSpPr>
        <p:sp>
          <p:nvSpPr>
            <p:cNvPr name="Freeform 3" id="3"/>
            <p:cNvSpPr/>
            <p:nvPr/>
          </p:nvSpPr>
          <p:spPr>
            <a:xfrm flipH="false" flipV="false" rot="0">
              <a:off x="0" y="0"/>
              <a:ext cx="21031200" cy="2651125"/>
            </a:xfrm>
            <a:custGeom>
              <a:avLst/>
              <a:gdLst/>
              <a:ahLst/>
              <a:cxnLst/>
              <a:rect r="r" b="b" t="t" l="l"/>
              <a:pathLst>
                <a:path h="2651125" w="21031200">
                  <a:moveTo>
                    <a:pt x="0" y="0"/>
                  </a:moveTo>
                  <a:lnTo>
                    <a:pt x="21031200" y="0"/>
                  </a:lnTo>
                  <a:lnTo>
                    <a:pt x="21031200" y="2651125"/>
                  </a:lnTo>
                  <a:lnTo>
                    <a:pt x="0" y="2651125"/>
                  </a:lnTo>
                  <a:close/>
                </a:path>
              </a:pathLst>
            </a:custGeom>
            <a:solidFill>
              <a:srgbClr val="000000">
                <a:alpha val="0"/>
              </a:srgbClr>
            </a:solidFill>
          </p:spPr>
        </p:sp>
        <p:sp>
          <p:nvSpPr>
            <p:cNvPr name="TextBox 4" id="4"/>
            <p:cNvSpPr txBox="true"/>
            <p:nvPr/>
          </p:nvSpPr>
          <p:spPr>
            <a:xfrm>
              <a:off x="0" y="57150"/>
              <a:ext cx="21031200" cy="2593975"/>
            </a:xfrm>
            <a:prstGeom prst="rect">
              <a:avLst/>
            </a:prstGeom>
          </p:spPr>
          <p:txBody>
            <a:bodyPr anchor="ctr" rtlCol="false" tIns="0" lIns="0" bIns="0" rIns="0"/>
            <a:lstStyle/>
            <a:p>
              <a:pPr algn="l">
                <a:lnSpc>
                  <a:spcPts val="7128"/>
                </a:lnSpc>
              </a:pPr>
              <a:r>
                <a:rPr lang="en-US" sz="6600">
                  <a:solidFill>
                    <a:srgbClr val="000000"/>
                  </a:solidFill>
                  <a:latin typeface="Play"/>
                  <a:ea typeface="Play"/>
                  <a:cs typeface="Play"/>
                  <a:sym typeface="Play"/>
                </a:rPr>
                <a:t>References</a:t>
              </a:r>
            </a:p>
          </p:txBody>
        </p:sp>
      </p:grpSp>
      <p:sp>
        <p:nvSpPr>
          <p:cNvPr name="TextBox 5" id="5"/>
          <p:cNvSpPr txBox="true"/>
          <p:nvPr/>
        </p:nvSpPr>
        <p:spPr>
          <a:xfrm rot="0">
            <a:off x="1019175" y="2343074"/>
            <a:ext cx="17268825" cy="7322439"/>
          </a:xfrm>
          <a:prstGeom prst="rect">
            <a:avLst/>
          </a:prstGeom>
        </p:spPr>
        <p:txBody>
          <a:bodyPr anchor="t" rtlCol="false" tIns="0" lIns="0" bIns="0" rIns="0">
            <a:spAutoFit/>
          </a:bodyPr>
          <a:lstStyle/>
          <a:p>
            <a:pPr algn="l">
              <a:lnSpc>
                <a:spcPts val="3888"/>
              </a:lnSpc>
            </a:pPr>
            <a:r>
              <a:rPr lang="en-US" sz="3600">
                <a:solidFill>
                  <a:srgbClr val="000000"/>
                </a:solidFill>
                <a:latin typeface="Arial"/>
                <a:ea typeface="Arial"/>
                <a:cs typeface="Arial"/>
                <a:sym typeface="Arial"/>
              </a:rPr>
              <a:t>Github</a:t>
            </a:r>
            <a:r>
              <a:rPr lang="en-US" sz="3600">
                <a:solidFill>
                  <a:srgbClr val="000000"/>
                </a:solidFill>
                <a:latin typeface="Arial"/>
                <a:ea typeface="Arial"/>
                <a:cs typeface="Arial"/>
                <a:sym typeface="Arial"/>
              </a:rPr>
              <a:t> Dataset</a:t>
            </a:r>
          </a:p>
          <a:p>
            <a:pPr algn="l">
              <a:lnSpc>
                <a:spcPts val="3888"/>
              </a:lnSpc>
            </a:pPr>
            <a:r>
              <a:rPr lang="en-US" sz="3600">
                <a:solidFill>
                  <a:srgbClr val="467886"/>
                </a:solidFill>
                <a:latin typeface="Arial"/>
                <a:ea typeface="Arial"/>
                <a:cs typeface="Arial"/>
                <a:sym typeface="Arial"/>
              </a:rPr>
              <a:t>https://github.com/Tek-nr/Disaster-Tweet-Detection/</a:t>
            </a:r>
          </a:p>
          <a:p>
            <a:pPr algn="l">
              <a:lnSpc>
                <a:spcPts val="3888"/>
              </a:lnSpc>
            </a:pPr>
          </a:p>
          <a:p>
            <a:pPr algn="l">
              <a:lnSpc>
                <a:spcPts val="3888"/>
              </a:lnSpc>
            </a:pPr>
            <a:r>
              <a:rPr lang="en-US" sz="3600">
                <a:solidFill>
                  <a:srgbClr val="000000"/>
                </a:solidFill>
                <a:latin typeface="Arial"/>
                <a:ea typeface="Arial"/>
                <a:cs typeface="Arial"/>
                <a:sym typeface="Arial"/>
              </a:rPr>
              <a:t>Tools and Environment Used:</a:t>
            </a:r>
          </a:p>
          <a:p>
            <a:pPr algn="l">
              <a:lnSpc>
                <a:spcPts val="3888"/>
              </a:lnSpc>
            </a:pPr>
            <a:r>
              <a:rPr lang="en-US" b="true" sz="3600">
                <a:solidFill>
                  <a:srgbClr val="000000"/>
                </a:solidFill>
                <a:latin typeface="Arial Bold"/>
                <a:ea typeface="Arial Bold"/>
                <a:cs typeface="Arial Bold"/>
                <a:sym typeface="Arial Bold"/>
              </a:rPr>
              <a:t>VS Code</a:t>
            </a:r>
            <a:r>
              <a:rPr lang="en-US" sz="3600">
                <a:solidFill>
                  <a:srgbClr val="000000"/>
                </a:solidFill>
                <a:latin typeface="Arial"/>
                <a:ea typeface="Arial"/>
                <a:cs typeface="Arial"/>
                <a:sym typeface="Arial"/>
              </a:rPr>
              <a:t> (for coding, analysis, and visualizations)</a:t>
            </a:r>
          </a:p>
          <a:p>
            <a:pPr algn="l">
              <a:lnSpc>
                <a:spcPts val="3888"/>
              </a:lnSpc>
            </a:pPr>
            <a:r>
              <a:rPr lang="en-US" b="true" sz="3600">
                <a:solidFill>
                  <a:srgbClr val="000000"/>
                </a:solidFill>
                <a:latin typeface="Arial Bold"/>
                <a:ea typeface="Arial Bold"/>
                <a:cs typeface="Arial Bold"/>
                <a:sym typeface="Arial Bold"/>
              </a:rPr>
              <a:t>Libraries</a:t>
            </a:r>
            <a:r>
              <a:rPr lang="en-US" sz="3600">
                <a:solidFill>
                  <a:srgbClr val="000000"/>
                </a:solidFill>
                <a:latin typeface="Arial"/>
                <a:ea typeface="Arial"/>
                <a:cs typeface="Arial"/>
                <a:sym typeface="Arial"/>
              </a:rPr>
              <a:t> - Pandas, NumPy, Matplotlib, Seaborn, NetworkX</a:t>
            </a:r>
          </a:p>
          <a:p>
            <a:pPr algn="l">
              <a:lnSpc>
                <a:spcPts val="3888"/>
              </a:lnSpc>
            </a:pPr>
            <a:r>
              <a:rPr lang="en-US" b="true" sz="3600">
                <a:solidFill>
                  <a:srgbClr val="000000"/>
                </a:solidFill>
                <a:latin typeface="Arial Bold"/>
                <a:ea typeface="Arial Bold"/>
                <a:cs typeface="Arial Bold"/>
                <a:sym typeface="Arial Bold"/>
              </a:rPr>
              <a:t>Visualization Tool - </a:t>
            </a:r>
            <a:r>
              <a:rPr lang="en-US" sz="3600">
                <a:solidFill>
                  <a:srgbClr val="000000"/>
                </a:solidFill>
                <a:latin typeface="Arial"/>
                <a:ea typeface="Arial"/>
                <a:cs typeface="Arial"/>
                <a:sym typeface="Arial"/>
              </a:rPr>
              <a:t>Gephi</a:t>
            </a:r>
          </a:p>
          <a:p>
            <a:pPr algn="l">
              <a:lnSpc>
                <a:spcPts val="3888"/>
              </a:lnSpc>
            </a:pPr>
          </a:p>
          <a:p>
            <a:pPr algn="l">
              <a:lnSpc>
                <a:spcPts val="3888"/>
              </a:lnSpc>
            </a:pPr>
            <a:r>
              <a:rPr lang="en-US" sz="3600">
                <a:solidFill>
                  <a:srgbClr val="000000"/>
                </a:solidFill>
                <a:latin typeface="Arial"/>
                <a:ea typeface="Arial"/>
                <a:cs typeface="Arial"/>
                <a:sym typeface="Arial"/>
              </a:rPr>
              <a:t>Books / Theory References:</a:t>
            </a:r>
          </a:p>
          <a:p>
            <a:pPr algn="l">
              <a:lnSpc>
                <a:spcPts val="3888"/>
              </a:lnSpc>
            </a:pPr>
          </a:p>
          <a:p>
            <a:pPr algn="l">
              <a:lnSpc>
                <a:spcPts val="3888"/>
              </a:lnSpc>
            </a:pPr>
            <a:r>
              <a:rPr lang="en-US" sz="3600">
                <a:solidFill>
                  <a:srgbClr val="000000"/>
                </a:solidFill>
                <a:latin typeface="Arial"/>
                <a:ea typeface="Arial"/>
                <a:cs typeface="Arial"/>
                <a:sym typeface="Arial"/>
              </a:rPr>
              <a:t>Newman, M. E. J. (2010). </a:t>
            </a:r>
            <a:r>
              <a:rPr lang="en-US" sz="3600" i="true">
                <a:solidFill>
                  <a:srgbClr val="000000"/>
                </a:solidFill>
                <a:latin typeface="Arial Italics"/>
                <a:ea typeface="Arial Italics"/>
                <a:cs typeface="Arial Italics"/>
                <a:sym typeface="Arial Italics"/>
              </a:rPr>
              <a:t>Networks: An Introduction.Bruns &amp; Burgess                       (2011). "#ausfloods and @QPSMedia: Crisis Communication on Twitter"</a:t>
            </a:r>
          </a:p>
          <a:p>
            <a:pPr algn="l">
              <a:lnSpc>
                <a:spcPts val="3888"/>
              </a:lnSpc>
            </a:pPr>
          </a:p>
          <a:p>
            <a:pPr algn="l">
              <a:lnSpc>
                <a:spcPts val="3888"/>
              </a:lnSpc>
            </a:pPr>
            <a:r>
              <a:rPr lang="en-US" sz="3600">
                <a:solidFill>
                  <a:srgbClr val="000000"/>
                </a:solidFill>
                <a:latin typeface="Arial"/>
                <a:ea typeface="Arial"/>
                <a:cs typeface="Arial"/>
                <a:sym typeface="Arial"/>
              </a:rPr>
              <a:t>Starbird &amp; Palen (2011). "Volun</a:t>
            </a:r>
            <a:r>
              <a:rPr lang="en-US" sz="3600">
                <a:solidFill>
                  <a:srgbClr val="000000"/>
                </a:solidFill>
                <a:latin typeface="Arial"/>
                <a:ea typeface="Arial"/>
                <a:cs typeface="Arial"/>
                <a:sym typeface="Arial"/>
              </a:rPr>
              <a:t>tw</a:t>
            </a:r>
            <a:r>
              <a:rPr lang="en-US" sz="3600">
                <a:solidFill>
                  <a:srgbClr val="000000"/>
                </a:solidFill>
                <a:latin typeface="Arial"/>
                <a:ea typeface="Arial"/>
                <a:cs typeface="Arial"/>
                <a:sym typeface="Arial"/>
              </a:rPr>
              <a:t>eete</a:t>
            </a:r>
            <a:r>
              <a:rPr lang="en-US" sz="3600">
                <a:solidFill>
                  <a:srgbClr val="000000"/>
                </a:solidFill>
                <a:latin typeface="Arial"/>
                <a:ea typeface="Arial"/>
                <a:cs typeface="Arial"/>
                <a:sym typeface="Arial"/>
              </a:rPr>
              <a:t>r</a:t>
            </a:r>
            <a:r>
              <a:rPr lang="en-US" sz="3600">
                <a:solidFill>
                  <a:srgbClr val="000000"/>
                </a:solidFill>
                <a:latin typeface="Arial"/>
                <a:ea typeface="Arial"/>
                <a:cs typeface="Arial"/>
                <a:sym typeface="Arial"/>
              </a:rPr>
              <a:t>s:</a:t>
            </a:r>
            <a:r>
              <a:rPr lang="en-US" sz="3600">
                <a:solidFill>
                  <a:srgbClr val="000000"/>
                </a:solidFill>
                <a:latin typeface="Arial"/>
                <a:ea typeface="Arial"/>
                <a:cs typeface="Arial"/>
                <a:sym typeface="Arial"/>
              </a:rPr>
              <a:t> S</a:t>
            </a:r>
            <a:r>
              <a:rPr lang="en-US" sz="3600">
                <a:solidFill>
                  <a:srgbClr val="000000"/>
                </a:solidFill>
                <a:latin typeface="Arial"/>
                <a:ea typeface="Arial"/>
                <a:cs typeface="Arial"/>
                <a:sym typeface="Arial"/>
              </a:rPr>
              <a:t>elf-Organizing by Dig</a:t>
            </a:r>
            <a:r>
              <a:rPr lang="en-US" sz="3600">
                <a:solidFill>
                  <a:srgbClr val="000000"/>
                </a:solidFill>
                <a:latin typeface="Arial"/>
                <a:ea typeface="Arial"/>
                <a:cs typeface="Arial"/>
                <a:sym typeface="Arial"/>
              </a:rPr>
              <a:t>i</a:t>
            </a:r>
            <a:r>
              <a:rPr lang="en-US" sz="3600">
                <a:solidFill>
                  <a:srgbClr val="000000"/>
                </a:solidFill>
                <a:latin typeface="Arial"/>
                <a:ea typeface="Arial"/>
                <a:cs typeface="Arial"/>
                <a:sym typeface="Arial"/>
              </a:rPr>
              <a:t>tal Volunt</a:t>
            </a:r>
            <a:r>
              <a:rPr lang="en-US" sz="3600">
                <a:solidFill>
                  <a:srgbClr val="000000"/>
                </a:solidFill>
                <a:latin typeface="Arial"/>
                <a:ea typeface="Arial"/>
                <a:cs typeface="Arial"/>
                <a:sym typeface="Arial"/>
              </a:rPr>
              <a:t>ee</a:t>
            </a:r>
            <a:r>
              <a:rPr lang="en-US" sz="3600">
                <a:solidFill>
                  <a:srgbClr val="000000"/>
                </a:solidFill>
                <a:latin typeface="Arial"/>
                <a:ea typeface="Arial"/>
                <a:cs typeface="Arial"/>
                <a:sym typeface="Arial"/>
              </a:rPr>
              <a:t>rs"</a:t>
            </a:r>
          </a:p>
          <a:p>
            <a:pPr algn="l">
              <a:lnSpc>
                <a:spcPts val="388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DAG6kDM3yyM</dc:identifier>
  <dcterms:modified xsi:type="dcterms:W3CDTF">2011-08-01T06:04:30Z</dcterms:modified>
  <cp:revision>1</cp:revision>
  <dc:title>Untitled presentation.pptx</dc:title>
</cp:coreProperties>
</file>